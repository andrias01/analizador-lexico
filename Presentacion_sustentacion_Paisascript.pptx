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27663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TODOS (0:00-0:20). Persona 1 abre.</a:t>
            </a:r>
          </a:p>
          <a:p>
            <a:endParaRPr/>
          </a:p>
          <a:p>
            <a:r>
              <a:t>"Buenas. Vamos a presentar Paisascript: un lenguaje de programacion que disenamos nosotros, con palabras reservadas en jerga paisa, y que se traduce a Gleam. En esta entrega traemos la gramatica BNF y el analizador lexico, funcionando en una aplicacion web."</a:t>
            </a:r>
          </a:p>
          <a:p>
            <a:endParaRPr/>
          </a:p>
          <a:p>
            <a:r>
              <a:t>Presentar a los tres por nombre en una sola frase. No leer la diapositiva.</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PERSONA 1 (0:20-0:55) - 35 s.</a:t>
            </a:r>
          </a:p>
          <a:p>
            <a:endParaRPr/>
          </a:p>
          <a:p>
            <a:r>
              <a:t>"Un compilador normal traduce a codigo de maquina. El nuestro es fuente-a-fuente: toma un programa escrito en Paisascript y produce un programa equivalente en Gleam.</a:t>
            </a:r>
          </a:p>
          <a:p>
            <a:r>
              <a:t>De todo el compilador, esta entrega cubre las dos primeras piezas: la gramatica formal en BNF y el analizador lexico, que es el que parte el texto en tokens."</a:t>
            </a:r>
          </a:p>
          <a:p>
            <a:endParaRPr/>
          </a:p>
          <a:p>
            <a:r>
              <a:t>Senalar la cadena de arriba con el cursor. NO detenerse aqui: es solo el encuadre.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PERSONA 1 (0:55-1:45) - 50 s. ESTA ES LA DIAPOSITIVA MAS IMPORTANTE DE LA PARTE 1.</a:t>
            </a:r>
          </a:p>
          <a:p>
            <a:endParaRPr/>
          </a:p>
          <a:p>
            <a:r>
              <a:t>"El enunciado exige que el lenguaje fuente sea coherente con el destino, y Gleam no es un lenguaje cualquiera: es funcional, no tiene while ni for, las variables son inmutables, no hay return anticipado y separa enteros de reales con operadores distintos: los enteros se suman con mas, los reales con mas-punto.</a:t>
            </a:r>
          </a:p>
          <a:p>
            <a:r>
              <a:t>Eso decidio el diseno: cuatro tipos basicos que calzan uno a uno con los de Gleam, y el lexer distingue desde el principio un entero de un real. Si emitieramos un solo token 'numero', despues seria imposible saber si hay que generar mas o mas-punto."</a:t>
            </a:r>
          </a:p>
          <a:p>
            <a:endParaRPr/>
          </a:p>
          <a:p>
            <a:r>
              <a:t>Si solo hay tiempo para una idea de la parte 1, es esta.</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PERSONA 1 (1:45-2:40) - 55 s.</a:t>
            </a:r>
          </a:p>
          <a:p>
            <a:endParaRPr/>
          </a:p>
          <a:p>
            <a:r>
              <a:t>IZQUIERDA, rapido: "El vocabulario sale de la jerga paisa: pille_pues es el let, hable_pues es el print, hagale_pues abre una funcion y ya_quedo la cierra." NO recitar la tabla entera: tres ejemplos y seguir.</a:t>
            </a:r>
          </a:p>
          <a:p>
            <a:endParaRPr/>
          </a:p>
          <a:p>
            <a:r>
              <a:t>DERECHA, con calma - es lo que califican: "La gramatica tiene 54 reglas y cumple las tres condiciones: no tiene recursividad por la izquierda, esta factorizada por la izquierda, y es LL(1).</a:t>
            </a:r>
          </a:p>
          <a:p>
            <a:r>
              <a:t>La recursividad izquierda hay que eliminarla porque nuestro analizador sintactico va a ser descendente recursivo: cada no-terminal es una funcion que se llama a si misma. Con una regla A -&gt; A alfa, la funcion se llamaria a si misma sin consumir ningun token: ciclo infinito y desborde de pila.</a:t>
            </a:r>
          </a:p>
          <a:p>
            <a:r>
              <a:t>Factorizar nos toco en un solo punto: una variable y una llamada a funcion empiezan las dos con un identificador."</a:t>
            </a:r>
          </a:p>
          <a:p>
            <a:endParaRPr/>
          </a:p>
          <a:p>
            <a:r>
              <a:t>Si preguntan como saben que es LL(1): PRIMERO y SIGUIENTE disjuntos, seccion 4 del documento de gramatica.</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PERSONA 2 (2:40-3:35) - 55 s.</a:t>
            </a:r>
          </a:p>
          <a:p>
            <a:endParaRPr/>
          </a:p>
          <a:p>
            <a:r>
              <a:t>"El analizador lexico recibe el programa como texto plano y lo parte en piezas con significado, los tokens. Es la primera fase del compilador.</a:t>
            </a:r>
          </a:p>
          <a:p>
            <a:r>
              <a:t>Ojo con esto: el lexer no entiende de gramatica ni de sentido. Si le damos 'pille_pues 5 5 5' reporta cinco tokens perfectamente validos, aunque como programa eso no signifique nada. Decidir si la combinacion tiene sentido ya es trabajo del analizador sintactico.</a:t>
            </a:r>
          </a:p>
          <a:p>
            <a:endParaRPr/>
          </a:p>
          <a:p>
            <a:r>
              <a:t>Tecnicamente: cada token es una expresion regular, se unen todas en una sola expresion con grupos con nombre y se recorre el texto una sola vez. El detalle clave es que Python devuelve la PRIMERA alternativa que coincide, no la mas larga. Por eso el orden de la lista ES la tabla de prioridades.</a:t>
            </a:r>
          </a:p>
          <a:p>
            <a:r>
              <a:t>Y esto no es teoria: la primera version del lexer tenia el operador menor-que antes que el de concatenacion, asi que &lt;&gt; se partia en dos tokens. Lo encontramos probando y lo corregimos cambiando el orden."</a:t>
            </a:r>
          </a:p>
          <a:p>
            <a:endParaRPr/>
          </a:p>
          <a:p>
            <a:r>
              <a:t>Esa anecdota da puntos: demuestra que probamos, no que copiamos.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PERSONA 2 (3:35-4:35) - 60 s. Cuatro ideas, unos 15 segundos cada una.</a:t>
            </a:r>
          </a:p>
          <a:p>
            <a:endParaRPr/>
          </a:p>
          <a:p>
            <a:r>
              <a:t>1. "Las palabras reservadas NO estan en la expresion regular. Reconocemos primero el identificador completo y despues consultamos un diccionario. Si las metieramos en la regex, 'pille_puesx' se partiria en la palabra reservada mas una x. Asi eso no puede pasar."</a:t>
            </a:r>
          </a:p>
          <a:p>
            <a:endParaRPr/>
          </a:p>
          <a:p>
            <a:r>
              <a:t>2. "Cada token guarda fila y columna. Vamos sumando el largo de cada lexema, y si trae saltos de linea recalculamos la columna desde el ultimo salto. Esa informacion es la que alimenta la tabla de simbolos y la que permite senalar el error exactamente donde esta."</a:t>
            </a:r>
          </a:p>
          <a:p>
            <a:endParaRPr/>
          </a:p>
          <a:p>
            <a:r>
              <a:t>3. "Los errores no detienen el analisis: es el requisito 14. El error se guarda en una lista y el recorrido sigue con el siguiente caracter. Asi un solo error no oculta los demas."</a:t>
            </a:r>
          </a:p>
          <a:p>
            <a:endParaRPr/>
          </a:p>
          <a:p>
            <a:r>
              <a:t>4. "lexer.py no imprime ni lee nada. Por eso la misma logica sirve para la consola y para la web sin cambiarle una linea. Es el requisito 15, y aqui no es una promesa: la app web se construyo despues de la de consola y no hubo que tocar el lexer. El analizador sintactico sera el tercero en reutilizarlo."</a:t>
            </a:r>
          </a:p>
          <a:p>
            <a:endParaRPr/>
          </a:p>
          <a:p>
            <a:r>
              <a:t>Cerrar entregandole la palabra a la Persona 3.</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PERSONA 3 (4:35-7:20) - 2 min 45 s. ESTA PARTE VALE EL 30 % DE LA NOTA.</a:t>
            </a:r>
          </a:p>
          <a:p>
            <a:r>
              <a:t>NO leer la diapositiva: compartir la pantalla con la app y seguir los cinco pasos. Esta lamina es solo el mapa.</a:t>
            </a:r>
          </a:p>
          <a:p>
            <a:endParaRPr/>
          </a:p>
          <a:p>
            <a:r>
              <a:t>PASO 1 (20 s) - Barra lateral: nombrar los tres modos de entrada (requisito 11): cadena predefinida, cadena libre y archivo .paisa. Elegir la predefinida 'Programa completo: numeros primos'.</a:t>
            </a:r>
          </a:p>
          <a:p>
            <a:endParaRPr/>
          </a:p>
          <a:p>
            <a:r>
              <a:t>PASO 2 (40 s) - Pestana 'Codigo segmentado' y luego 'Flujo de tokens'. Decir: "Esto no es el resaltador de sintaxis del editor: cada color sale de la categoria que el lexer le asigno al token, y la posicion se reconstruye con la fila y la columna que el mismo guardo."</a:t>
            </a:r>
          </a:p>
          <a:p>
            <a:endParaRPr/>
          </a:p>
          <a:p>
            <a:r>
              <a:t>PASO 3 (35 s) - Pestana 'Tabla de simbolos'. Senalar las cuatro columnas que pide el enunciado: lexema, tipo de token, fila y columna. Mostrar el filtro por categoria y el boton de descargar CSV.</a:t>
            </a:r>
          </a:p>
          <a:p>
            <a:endParaRPr/>
          </a:p>
          <a:p>
            <a:r>
              <a:t>PASO 4 (45 s) - Cambiar a la predefinida 'ERRORES LEXICOS deliberados'. Se detectan 5 errores y el analisis NO se detiene. Aprovechar para la distincion de la lamina siguiente.</a:t>
            </a:r>
          </a:p>
          <a:p>
            <a:endParaRPr/>
          </a:p>
          <a:p>
            <a:r>
              <a:t>PASO 5 (25 s) - Pestana 'Traduccion a Gleam': en que se convierte cada token y cuales no tienen traduccion directa. Es la prueba de que el lenguaje se diseno contra un destino concreto.</a:t>
            </a:r>
          </a:p>
          <a:p>
            <a:endParaRPr/>
          </a:p>
          <a:p>
            <a:r>
              <a:t>SI ALGO FALLA: respirar, decir "pasamos al plan B" y abrir la version local (py -3.12 -m streamlit run app.py) o la consola (python main.py). Nunca quedarse callado peleando con la pantalla.</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PERSONA 3 (7:20-7:55) - 35 s. Se dice mientras esta abierta la pestana de errores. ESTA DISTINCION DA PUNTOS.</a:t>
            </a:r>
          </a:p>
          <a:p>
            <a:endParaRPr/>
          </a:p>
          <a:p>
            <a:r>
              <a:t>"Preparamos tres archivos de prueba a proposito: uno correcto, uno con un error sintactico y uno con errores semanticos. Los dos ultimos son lexicamente validos: todas sus piezas existen y estan bien escritas; lo que esta mal es como se combinan. Por eso el lexer no reporta nada en ellos, y eso es correcto, no una falla: esta entrega es el analizador lexico.</a:t>
            </a:r>
          </a:p>
          <a:p>
            <a:r>
              <a:t>Como valor agregado anadimos una verificacion de balanceo de bloques que si detecta cuando falta una palabra de cierre."</a:t>
            </a:r>
          </a:p>
          <a:p>
            <a:endParaRPr/>
          </a:p>
          <a:p>
            <a:r>
              <a:t>Si el profesor dice 'subi un archivo con error y dice que no hay errores': esta es exactamente la respuesta.</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LOS TRES (7:55-9:00) - 1 min. El enunciado EXIGE explicar como se uso la IA. Responder con honestidad y con criterio: lo que se valora no es haberla usado o no, sino demostrar que se entiende lo que se entrego.</a:t>
            </a:r>
          </a:p>
          <a:p>
            <a:endParaRPr/>
          </a:p>
          <a:p>
            <a:r>
              <a:t>"La usamos como apoyo para redactar la gramatica en BNF, proponer el vocabulario en jerga paisa y escribir el codigo de la aplicacion.</a:t>
            </a:r>
          </a:p>
          <a:p>
            <a:r>
              <a:t>Nos sirvio para revisar: nos ayudo a detectar que la primera gramatica tenia recursividad por la izquierda en cinco reglas y a reescribirlas con la tecnica A ::= B A'.</a:t>
            </a:r>
          </a:p>
          <a:p>
            <a:r>
              <a:t>Y encontramos errores reales probando: el orden de la tabla de tokens estaba mal y el operador de concatenacion se partia en dos.</a:t>
            </a:r>
          </a:p>
          <a:p>
            <a:r>
              <a:t>Lo que NO delegamos son las decisiones de diseno: los cuatro tipos, separar entero de real por los operadores de Gleam, y cerrar cada bloque con una palabra reservada para que la gramatica quedara LL(1)."</a:t>
            </a:r>
          </a:p>
          <a:p>
            <a:endParaRPr/>
          </a:p>
          <a:p>
            <a:r>
              <a:t>NUNCA decir 'lo hizo la IA' sin mas, ni negar que se uso. Las dos cosas restan.</a:t>
            </a:r>
          </a:p>
          <a:p>
            <a:endParaRPr/>
          </a:p>
          <a:p>
            <a:r>
              <a:t>CIERRE (15 s): leer de corrido las cinco frases de la derecha y abrir a preguntas.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4008"/>
            <a:ext cx="12191695" cy="6858000"/>
          </a:xfrm>
          <a:prstGeom prst="rect">
            <a:avLst/>
          </a:prstGeom>
          <a:solidFill>
            <a:srgbClr val="1E21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82296" cy="6858000"/>
          </a:xfrm>
          <a:prstGeom prst="rect">
            <a:avLst/>
          </a:prstGeom>
          <a:solidFill>
            <a:srgbClr val="C678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51560" y="1371600"/>
            <a:ext cx="8778240" cy="3291840"/>
          </a:xfrm>
          <a:prstGeom prst="rect">
            <a:avLst/>
          </a:prstGeom>
          <a:noFill/>
        </p:spPr>
        <p:txBody>
          <a:bodyPr wrap="square" lIns="0" tIns="0" rIns="0" bIns="0" anchor="t">
            <a:spAutoFit/>
          </a:bodyPr>
          <a:lstStyle/>
          <a:p>
            <a:pPr algn="l">
              <a:lnSpc>
                <a:spcPct val="115000"/>
              </a:lnSpc>
              <a:spcBef>
                <a:spcPts val="0"/>
              </a:spcBef>
              <a:spcAft>
                <a:spcPts val="1600"/>
              </a:spcAft>
            </a:pPr>
            <a:r>
              <a:rPr sz="1300" b="1" i="0">
                <a:solidFill>
                  <a:srgbClr val="C678DD"/>
                </a:solidFill>
                <a:latin typeface="Segoe UI"/>
              </a:rPr>
              <a:t>TEORÍA DE COMPILADORES  ·  ENTREGA 1</a:t>
            </a:r>
          </a:p>
          <a:p>
            <a:pPr algn="l">
              <a:lnSpc>
                <a:spcPct val="100000"/>
              </a:lnSpc>
              <a:spcBef>
                <a:spcPts val="0"/>
              </a:spcBef>
              <a:spcAft>
                <a:spcPts val="600"/>
              </a:spcAft>
            </a:pPr>
            <a:r>
              <a:rPr sz="6200" b="1" i="0">
                <a:solidFill>
                  <a:srgbClr val="DCDFE4"/>
                </a:solidFill>
                <a:latin typeface="Segoe UI"/>
              </a:rPr>
              <a:t>Paisascript</a:t>
            </a:r>
          </a:p>
          <a:p>
            <a:pPr algn="l">
              <a:lnSpc>
                <a:spcPct val="105000"/>
              </a:lnSpc>
              <a:spcBef>
                <a:spcPts val="0"/>
              </a:spcBef>
              <a:spcAft>
                <a:spcPts val="2000"/>
              </a:spcAft>
            </a:pPr>
            <a:r>
              <a:rPr sz="2700" b="0" i="0">
                <a:solidFill>
                  <a:srgbClr val="9AA2B1"/>
                </a:solidFill>
                <a:latin typeface="Segoe UI"/>
              </a:rPr>
              <a:t>Analizador léxico y gramática BNF</a:t>
            </a:r>
          </a:p>
          <a:p>
            <a:pPr algn="l">
              <a:lnSpc>
                <a:spcPct val="115000"/>
              </a:lnSpc>
              <a:spcBef>
                <a:spcPts val="0"/>
              </a:spcBef>
              <a:spcAft>
                <a:spcPts val="0"/>
              </a:spcAft>
            </a:pPr>
            <a:r>
              <a:rPr sz="1700" b="0">
                <a:solidFill>
                  <a:srgbClr val="9AA2B1"/>
                </a:solidFill>
                <a:latin typeface="Segoe UI"/>
              </a:rPr>
              <a:t>Compilador fuente-a-fuente  ·  lenguaje destino: </a:t>
            </a:r>
            <a:r>
              <a:rPr sz="1700" b="1">
                <a:solidFill>
                  <a:srgbClr val="98C379"/>
                </a:solidFill>
                <a:latin typeface="Segoe UI"/>
              </a:rPr>
              <a:t>Gleam</a:t>
            </a:r>
          </a:p>
        </p:txBody>
      </p:sp>
      <p:sp>
        <p:nvSpPr>
          <p:cNvPr id="5" name="Rounded Rectangle 4"/>
          <p:cNvSpPr/>
          <p:nvPr/>
        </p:nvSpPr>
        <p:spPr>
          <a:xfrm>
            <a:off x="1051560" y="4892040"/>
            <a:ext cx="2971800" cy="841248"/>
          </a:xfrm>
          <a:prstGeom prst="roundRect">
            <a:avLst>
              <a:gd name="adj" fmla="val 12000"/>
            </a:avLst>
          </a:prstGeom>
          <a:solidFill>
            <a:srgbClr val="282C34"/>
          </a:solidFill>
          <a:ln w="12700">
            <a:solidFill>
              <a:srgbClr val="3237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51560" y="5056632"/>
            <a:ext cx="45720" cy="512064"/>
          </a:xfrm>
          <a:prstGeom prst="rect">
            <a:avLst/>
          </a:prstGeom>
          <a:solidFill>
            <a:srgbClr val="C678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16708" y="4951667"/>
            <a:ext cx="3775916" cy="721993"/>
          </a:xfrm>
          <a:prstGeom prst="rect">
            <a:avLst/>
          </a:prstGeom>
          <a:noFill/>
        </p:spPr>
        <p:txBody>
          <a:bodyPr wrap="square" lIns="0" tIns="0" rIns="0" bIns="0" anchor="t">
            <a:spAutoFit/>
          </a:bodyPr>
          <a:lstStyle/>
          <a:p>
            <a:pPr algn="l">
              <a:lnSpc>
                <a:spcPct val="115000"/>
              </a:lnSpc>
              <a:spcBef>
                <a:spcPts val="0"/>
              </a:spcBef>
              <a:spcAft>
                <a:spcPts val="200"/>
              </a:spcAft>
            </a:pPr>
            <a:r>
              <a:rPr lang="es-ES" sz="1400" b="1" dirty="0">
                <a:solidFill>
                  <a:srgbClr val="C678DD"/>
                </a:solidFill>
                <a:latin typeface="Segoe UI"/>
              </a:rPr>
              <a:t>Andres Felipe Velez</a:t>
            </a:r>
            <a:br>
              <a:rPr lang="es-ES" sz="1400" b="1" dirty="0">
                <a:solidFill>
                  <a:srgbClr val="C678DD"/>
                </a:solidFill>
                <a:latin typeface="Segoe UI"/>
              </a:rPr>
            </a:br>
            <a:r>
              <a:rPr lang="es-ES" sz="1400" b="1" dirty="0">
                <a:solidFill>
                  <a:srgbClr val="C678DD"/>
                </a:solidFill>
                <a:latin typeface="Segoe UI"/>
              </a:rPr>
              <a:t>Angie Amaya </a:t>
            </a:r>
            <a:r>
              <a:rPr lang="es-ES" sz="1400" b="1" dirty="0" err="1">
                <a:solidFill>
                  <a:srgbClr val="C678DD"/>
                </a:solidFill>
                <a:latin typeface="Segoe UI"/>
              </a:rPr>
              <a:t>Fernandez</a:t>
            </a:r>
            <a:br>
              <a:rPr lang="es-ES" sz="1400" b="1" dirty="0">
                <a:solidFill>
                  <a:srgbClr val="C678DD"/>
                </a:solidFill>
                <a:latin typeface="Segoe UI"/>
              </a:rPr>
            </a:br>
            <a:r>
              <a:rPr lang="es-ES" sz="1400" b="1" dirty="0" err="1">
                <a:solidFill>
                  <a:srgbClr val="C678DD"/>
                </a:solidFill>
                <a:latin typeface="Segoe UI"/>
              </a:rPr>
              <a:t>Julian</a:t>
            </a:r>
            <a:r>
              <a:rPr lang="es-ES" sz="1400" b="1" dirty="0">
                <a:solidFill>
                  <a:srgbClr val="C678DD"/>
                </a:solidFill>
                <a:latin typeface="Segoe UI"/>
              </a:rPr>
              <a:t> David Guarnizo Castrillon</a:t>
            </a:r>
            <a:endParaRPr sz="1400" b="1" i="0" dirty="0">
              <a:solidFill>
                <a:srgbClr val="C678DD"/>
              </a:solidFill>
              <a:latin typeface="Segoe U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21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640080" y="475488"/>
            <a:ext cx="50292" cy="841248"/>
          </a:xfrm>
          <a:prstGeom prst="rect">
            <a:avLst/>
          </a:prstGeom>
          <a:solidFill>
            <a:srgbClr val="C678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438912"/>
            <a:ext cx="7863840" cy="960120"/>
          </a:xfrm>
          <a:prstGeom prst="rect">
            <a:avLst/>
          </a:prstGeom>
          <a:noFill/>
        </p:spPr>
        <p:txBody>
          <a:bodyPr wrap="square" lIns="0" tIns="0" rIns="0" bIns="0" anchor="t">
            <a:spAutoFit/>
          </a:bodyPr>
          <a:lstStyle/>
          <a:p>
            <a:pPr algn="l">
              <a:lnSpc>
                <a:spcPct val="115000"/>
              </a:lnSpc>
              <a:spcBef>
                <a:spcPts val="0"/>
              </a:spcBef>
              <a:spcAft>
                <a:spcPts val="300"/>
              </a:spcAft>
            </a:pPr>
            <a:r>
              <a:rPr sz="1150" b="1" i="0">
                <a:solidFill>
                  <a:srgbClr val="C678DD"/>
                </a:solidFill>
                <a:latin typeface="Segoe UI"/>
              </a:rPr>
              <a:t>EL PROYECTO EN 30 SEGUNDOS</a:t>
            </a:r>
          </a:p>
          <a:p>
            <a:pPr algn="l">
              <a:lnSpc>
                <a:spcPct val="100000"/>
              </a:lnSpc>
              <a:spcBef>
                <a:spcPts val="0"/>
              </a:spcBef>
              <a:spcAft>
                <a:spcPts val="0"/>
              </a:spcAft>
            </a:pPr>
            <a:r>
              <a:rPr sz="2900" b="1" i="0">
                <a:solidFill>
                  <a:srgbClr val="DCDFE4"/>
                </a:solidFill>
                <a:latin typeface="Segoe UI"/>
              </a:rPr>
              <a:t>De jerga paisa a código Gleam</a:t>
            </a:r>
          </a:p>
        </p:txBody>
      </p:sp>
      <p:sp>
        <p:nvSpPr>
          <p:cNvPr id="7" name="Rounded Rectangle 6"/>
          <p:cNvSpPr/>
          <p:nvPr/>
        </p:nvSpPr>
        <p:spPr>
          <a:xfrm>
            <a:off x="658368" y="1783080"/>
            <a:ext cx="3383280" cy="2057400"/>
          </a:xfrm>
          <a:prstGeom prst="roundRect">
            <a:avLst>
              <a:gd name="adj" fmla="val 8000"/>
            </a:avLst>
          </a:prstGeom>
          <a:solidFill>
            <a:srgbClr val="282C34"/>
          </a:solidFill>
          <a:ln w="12700">
            <a:solidFill>
              <a:srgbClr val="3237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2020824"/>
            <a:ext cx="2880360" cy="1645920"/>
          </a:xfrm>
          <a:prstGeom prst="rect">
            <a:avLst/>
          </a:prstGeom>
          <a:noFill/>
        </p:spPr>
        <p:txBody>
          <a:bodyPr wrap="square" lIns="0" tIns="0" rIns="0" bIns="0" anchor="t">
            <a:spAutoFit/>
          </a:bodyPr>
          <a:lstStyle/>
          <a:p>
            <a:pPr algn="l">
              <a:lnSpc>
                <a:spcPct val="115000"/>
              </a:lnSpc>
              <a:spcBef>
                <a:spcPts val="0"/>
              </a:spcBef>
              <a:spcAft>
                <a:spcPts val="800"/>
              </a:spcAft>
            </a:pPr>
            <a:r>
              <a:rPr sz="1050" b="1" i="0">
                <a:solidFill>
                  <a:srgbClr val="C678DD"/>
                </a:solidFill>
                <a:latin typeface="Segoe UI"/>
              </a:rPr>
              <a:t>LENGUAJE FUENTE</a:t>
            </a:r>
          </a:p>
          <a:p>
            <a:pPr algn="l">
              <a:lnSpc>
                <a:spcPct val="100000"/>
              </a:lnSpc>
              <a:spcBef>
                <a:spcPts val="0"/>
              </a:spcBef>
              <a:spcAft>
                <a:spcPts val="900"/>
              </a:spcAft>
            </a:pPr>
            <a:r>
              <a:rPr sz="2000" b="1" i="0">
                <a:solidFill>
                  <a:srgbClr val="DCDFE4"/>
                </a:solidFill>
                <a:latin typeface="Segoe UI"/>
              </a:rPr>
              <a:t>Paisascript</a:t>
            </a:r>
          </a:p>
          <a:p>
            <a:pPr algn="l">
              <a:lnSpc>
                <a:spcPct val="115000"/>
              </a:lnSpc>
              <a:spcBef>
                <a:spcPts val="0"/>
              </a:spcBef>
              <a:spcAft>
                <a:spcPts val="100"/>
              </a:spcAft>
            </a:pPr>
            <a:r>
              <a:rPr sz="1250" b="0" i="0">
                <a:solidFill>
                  <a:srgbClr val="9AA2B1"/>
                </a:solidFill>
                <a:latin typeface="Segoe UI"/>
              </a:rPr>
              <a:t>Inventado por nosotros:</a:t>
            </a:r>
          </a:p>
          <a:p>
            <a:pPr algn="l">
              <a:lnSpc>
                <a:spcPct val="115000"/>
              </a:lnSpc>
              <a:spcBef>
                <a:spcPts val="0"/>
              </a:spcBef>
              <a:spcAft>
                <a:spcPts val="100"/>
              </a:spcAft>
            </a:pPr>
            <a:r>
              <a:rPr sz="1250" b="0" i="0">
                <a:solidFill>
                  <a:srgbClr val="9AA2B1"/>
                </a:solidFill>
                <a:latin typeface="Segoe UI"/>
              </a:rPr>
              <a:t>palabras reservadas</a:t>
            </a:r>
          </a:p>
          <a:p>
            <a:pPr algn="l">
              <a:lnSpc>
                <a:spcPct val="115000"/>
              </a:lnSpc>
              <a:spcBef>
                <a:spcPts val="0"/>
              </a:spcBef>
              <a:spcAft>
                <a:spcPts val="100"/>
              </a:spcAft>
            </a:pPr>
            <a:r>
              <a:rPr sz="1250" b="0" i="0">
                <a:solidFill>
                  <a:srgbClr val="9AA2B1"/>
                </a:solidFill>
                <a:latin typeface="Segoe UI"/>
              </a:rPr>
              <a:t>en jerga paisa.</a:t>
            </a:r>
          </a:p>
        </p:txBody>
      </p:sp>
      <p:sp>
        <p:nvSpPr>
          <p:cNvPr id="9" name="TextBox 8"/>
          <p:cNvSpPr txBox="1"/>
          <p:nvPr/>
        </p:nvSpPr>
        <p:spPr>
          <a:xfrm>
            <a:off x="4059936" y="2560320"/>
            <a:ext cx="320040" cy="457200"/>
          </a:xfrm>
          <a:prstGeom prst="rect">
            <a:avLst/>
          </a:prstGeom>
          <a:noFill/>
        </p:spPr>
        <p:txBody>
          <a:bodyPr wrap="square" lIns="0" tIns="0" rIns="0" bIns="0" anchor="t">
            <a:spAutoFit/>
          </a:bodyPr>
          <a:lstStyle/>
          <a:p>
            <a:pPr algn="ctr">
              <a:lnSpc>
                <a:spcPct val="115000"/>
              </a:lnSpc>
              <a:spcBef>
                <a:spcPts val="0"/>
              </a:spcBef>
              <a:spcAft>
                <a:spcPts val="0"/>
              </a:spcAft>
            </a:pPr>
            <a:r>
              <a:rPr sz="2400" b="0" i="0">
                <a:solidFill>
                  <a:srgbClr val="9AA2B1"/>
                </a:solidFill>
                <a:latin typeface="Segoe UI"/>
              </a:rPr>
              <a:t>→</a:t>
            </a:r>
          </a:p>
        </p:txBody>
      </p:sp>
      <p:sp>
        <p:nvSpPr>
          <p:cNvPr id="10" name="Rounded Rectangle 9"/>
          <p:cNvSpPr/>
          <p:nvPr/>
        </p:nvSpPr>
        <p:spPr>
          <a:xfrm>
            <a:off x="4361688" y="1783080"/>
            <a:ext cx="3383280" cy="2057400"/>
          </a:xfrm>
          <a:prstGeom prst="roundRect">
            <a:avLst>
              <a:gd name="adj" fmla="val 8000"/>
            </a:avLst>
          </a:prstGeom>
          <a:solidFill>
            <a:srgbClr val="282C34"/>
          </a:solidFill>
          <a:ln w="12700">
            <a:solidFill>
              <a:srgbClr val="3237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17720" y="2020824"/>
            <a:ext cx="2880360" cy="1645920"/>
          </a:xfrm>
          <a:prstGeom prst="rect">
            <a:avLst/>
          </a:prstGeom>
          <a:noFill/>
        </p:spPr>
        <p:txBody>
          <a:bodyPr wrap="square" lIns="0" tIns="0" rIns="0" bIns="0" anchor="t">
            <a:spAutoFit/>
          </a:bodyPr>
          <a:lstStyle/>
          <a:p>
            <a:pPr algn="l">
              <a:lnSpc>
                <a:spcPct val="115000"/>
              </a:lnSpc>
              <a:spcBef>
                <a:spcPts val="0"/>
              </a:spcBef>
              <a:spcAft>
                <a:spcPts val="800"/>
              </a:spcAft>
            </a:pPr>
            <a:r>
              <a:rPr sz="1050" b="1" i="0">
                <a:solidFill>
                  <a:srgbClr val="E5C07B"/>
                </a:solidFill>
                <a:latin typeface="Segoe UI"/>
              </a:rPr>
              <a:t>TRADUCTOR</a:t>
            </a:r>
          </a:p>
          <a:p>
            <a:pPr algn="l">
              <a:lnSpc>
                <a:spcPct val="100000"/>
              </a:lnSpc>
              <a:spcBef>
                <a:spcPts val="0"/>
              </a:spcBef>
              <a:spcAft>
                <a:spcPts val="900"/>
              </a:spcAft>
            </a:pPr>
            <a:r>
              <a:rPr sz="2000" b="1" i="0">
                <a:solidFill>
                  <a:srgbClr val="DCDFE4"/>
                </a:solidFill>
                <a:latin typeface="Segoe UI"/>
              </a:rPr>
              <a:t>Compilador</a:t>
            </a:r>
          </a:p>
          <a:p>
            <a:pPr algn="l">
              <a:lnSpc>
                <a:spcPct val="115000"/>
              </a:lnSpc>
              <a:spcBef>
                <a:spcPts val="0"/>
              </a:spcBef>
              <a:spcAft>
                <a:spcPts val="100"/>
              </a:spcAft>
            </a:pPr>
            <a:r>
              <a:rPr sz="1250" b="0" i="0">
                <a:solidFill>
                  <a:srgbClr val="9AA2B1"/>
                </a:solidFill>
                <a:latin typeface="Segoe UI"/>
              </a:rPr>
              <a:t>fuente-a-fuente</a:t>
            </a:r>
          </a:p>
          <a:p>
            <a:pPr algn="l">
              <a:lnSpc>
                <a:spcPct val="115000"/>
              </a:lnSpc>
              <a:spcBef>
                <a:spcPts val="0"/>
              </a:spcBef>
              <a:spcAft>
                <a:spcPts val="100"/>
              </a:spcAft>
            </a:pPr>
            <a:r>
              <a:rPr sz="1250" b="0" i="0">
                <a:solidFill>
                  <a:srgbClr val="9AA2B1"/>
                </a:solidFill>
                <a:latin typeface="Segoe UI"/>
              </a:rPr>
              <a:t>No genera código de</a:t>
            </a:r>
          </a:p>
          <a:p>
            <a:pPr algn="l">
              <a:lnSpc>
                <a:spcPct val="115000"/>
              </a:lnSpc>
              <a:spcBef>
                <a:spcPts val="0"/>
              </a:spcBef>
              <a:spcAft>
                <a:spcPts val="100"/>
              </a:spcAft>
            </a:pPr>
            <a:r>
              <a:rPr sz="1250" b="0" i="0">
                <a:solidFill>
                  <a:srgbClr val="9AA2B1"/>
                </a:solidFill>
                <a:latin typeface="Segoe UI"/>
              </a:rPr>
              <a:t>máquina: genera código.</a:t>
            </a:r>
          </a:p>
        </p:txBody>
      </p:sp>
      <p:sp>
        <p:nvSpPr>
          <p:cNvPr id="12" name="TextBox 11"/>
          <p:cNvSpPr txBox="1"/>
          <p:nvPr/>
        </p:nvSpPr>
        <p:spPr>
          <a:xfrm>
            <a:off x="7763256" y="2560320"/>
            <a:ext cx="320040" cy="457200"/>
          </a:xfrm>
          <a:prstGeom prst="rect">
            <a:avLst/>
          </a:prstGeom>
          <a:noFill/>
        </p:spPr>
        <p:txBody>
          <a:bodyPr wrap="square" lIns="0" tIns="0" rIns="0" bIns="0" anchor="t">
            <a:spAutoFit/>
          </a:bodyPr>
          <a:lstStyle/>
          <a:p>
            <a:pPr algn="ctr">
              <a:lnSpc>
                <a:spcPct val="115000"/>
              </a:lnSpc>
              <a:spcBef>
                <a:spcPts val="0"/>
              </a:spcBef>
              <a:spcAft>
                <a:spcPts val="0"/>
              </a:spcAft>
            </a:pPr>
            <a:r>
              <a:rPr sz="2400" b="0" i="0">
                <a:solidFill>
                  <a:srgbClr val="9AA2B1"/>
                </a:solidFill>
                <a:latin typeface="Segoe UI"/>
              </a:rPr>
              <a:t>→</a:t>
            </a:r>
          </a:p>
        </p:txBody>
      </p:sp>
      <p:sp>
        <p:nvSpPr>
          <p:cNvPr id="13" name="Rounded Rectangle 12"/>
          <p:cNvSpPr/>
          <p:nvPr/>
        </p:nvSpPr>
        <p:spPr>
          <a:xfrm>
            <a:off x="8065008" y="1783080"/>
            <a:ext cx="3383280" cy="2057400"/>
          </a:xfrm>
          <a:prstGeom prst="roundRect">
            <a:avLst>
              <a:gd name="adj" fmla="val 8000"/>
            </a:avLst>
          </a:prstGeom>
          <a:solidFill>
            <a:srgbClr val="282C34"/>
          </a:solidFill>
          <a:ln w="12700">
            <a:solidFill>
              <a:srgbClr val="3237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21040" y="2020824"/>
            <a:ext cx="2880360" cy="1645920"/>
          </a:xfrm>
          <a:prstGeom prst="rect">
            <a:avLst/>
          </a:prstGeom>
          <a:noFill/>
        </p:spPr>
        <p:txBody>
          <a:bodyPr wrap="square" lIns="0" tIns="0" rIns="0" bIns="0" anchor="t">
            <a:spAutoFit/>
          </a:bodyPr>
          <a:lstStyle/>
          <a:p>
            <a:pPr algn="l">
              <a:lnSpc>
                <a:spcPct val="115000"/>
              </a:lnSpc>
              <a:spcBef>
                <a:spcPts val="0"/>
              </a:spcBef>
              <a:spcAft>
                <a:spcPts val="800"/>
              </a:spcAft>
            </a:pPr>
            <a:r>
              <a:rPr sz="1050" b="1" i="0">
                <a:solidFill>
                  <a:srgbClr val="98C379"/>
                </a:solidFill>
                <a:latin typeface="Segoe UI"/>
              </a:rPr>
              <a:t>LENGUAJE DESTINO</a:t>
            </a:r>
          </a:p>
          <a:p>
            <a:pPr algn="l">
              <a:lnSpc>
                <a:spcPct val="100000"/>
              </a:lnSpc>
              <a:spcBef>
                <a:spcPts val="0"/>
              </a:spcBef>
              <a:spcAft>
                <a:spcPts val="900"/>
              </a:spcAft>
            </a:pPr>
            <a:r>
              <a:rPr sz="2000" b="1" i="0">
                <a:solidFill>
                  <a:srgbClr val="DCDFE4"/>
                </a:solidFill>
                <a:latin typeface="Segoe UI"/>
              </a:rPr>
              <a:t>Gleam</a:t>
            </a:r>
          </a:p>
          <a:p>
            <a:pPr algn="l">
              <a:lnSpc>
                <a:spcPct val="115000"/>
              </a:lnSpc>
              <a:spcBef>
                <a:spcPts val="0"/>
              </a:spcBef>
              <a:spcAft>
                <a:spcPts val="100"/>
              </a:spcAft>
            </a:pPr>
            <a:r>
              <a:rPr sz="1250" b="0" i="0">
                <a:solidFill>
                  <a:srgbClr val="9AA2B1"/>
                </a:solidFill>
                <a:latin typeface="Segoe UI"/>
              </a:rPr>
              <a:t>Funcional, inmutable,</a:t>
            </a:r>
          </a:p>
          <a:p>
            <a:pPr algn="l">
              <a:lnSpc>
                <a:spcPct val="115000"/>
              </a:lnSpc>
              <a:spcBef>
                <a:spcPts val="0"/>
              </a:spcBef>
              <a:spcAft>
                <a:spcPts val="100"/>
              </a:spcAft>
            </a:pPr>
            <a:r>
              <a:rPr sz="1250" b="0" i="0">
                <a:solidFill>
                  <a:srgbClr val="9AA2B1"/>
                </a:solidFill>
                <a:latin typeface="Segoe UI"/>
              </a:rPr>
              <a:t>corre sobre la máquina</a:t>
            </a:r>
          </a:p>
          <a:p>
            <a:pPr algn="l">
              <a:lnSpc>
                <a:spcPct val="115000"/>
              </a:lnSpc>
              <a:spcBef>
                <a:spcPts val="0"/>
              </a:spcBef>
              <a:spcAft>
                <a:spcPts val="100"/>
              </a:spcAft>
            </a:pPr>
            <a:r>
              <a:rPr sz="1250" b="0" i="0">
                <a:solidFill>
                  <a:srgbClr val="9AA2B1"/>
                </a:solidFill>
                <a:latin typeface="Segoe UI"/>
              </a:rPr>
              <a:t>virtual de Erlang.</a:t>
            </a:r>
          </a:p>
        </p:txBody>
      </p:sp>
      <p:sp>
        <p:nvSpPr>
          <p:cNvPr id="15" name="Rounded Rectangle 14"/>
          <p:cNvSpPr/>
          <p:nvPr/>
        </p:nvSpPr>
        <p:spPr>
          <a:xfrm>
            <a:off x="658368" y="4160520"/>
            <a:ext cx="10881360" cy="1682496"/>
          </a:xfrm>
          <a:prstGeom prst="roundRect">
            <a:avLst>
              <a:gd name="adj" fmla="val 8000"/>
            </a:avLst>
          </a:prstGeom>
          <a:solidFill>
            <a:srgbClr val="282C34"/>
          </a:solidFill>
          <a:ln w="12700">
            <a:solidFill>
              <a:srgbClr val="3237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6112" y="4361688"/>
            <a:ext cx="10405872" cy="1316736"/>
          </a:xfrm>
          <a:prstGeom prst="rect">
            <a:avLst/>
          </a:prstGeom>
          <a:noFill/>
        </p:spPr>
        <p:txBody>
          <a:bodyPr wrap="square" lIns="0" tIns="0" rIns="0" bIns="0" anchor="t">
            <a:spAutoFit/>
          </a:bodyPr>
          <a:lstStyle/>
          <a:p>
            <a:pPr algn="l">
              <a:lnSpc>
                <a:spcPct val="115000"/>
              </a:lnSpc>
              <a:spcBef>
                <a:spcPts val="0"/>
              </a:spcBef>
              <a:spcAft>
                <a:spcPts val="800"/>
              </a:spcAft>
            </a:pPr>
            <a:r>
              <a:rPr sz="1450" b="1" i="0">
                <a:solidFill>
                  <a:srgbClr val="C678DD"/>
                </a:solidFill>
                <a:latin typeface="Segoe UI"/>
              </a:rPr>
              <a:t>QUÉ ENTREGAMOS EN ESTA FASE</a:t>
            </a:r>
          </a:p>
          <a:p>
            <a:pPr algn="l">
              <a:lnSpc>
                <a:spcPct val="120000"/>
              </a:lnSpc>
              <a:spcBef>
                <a:spcPts val="0"/>
              </a:spcBef>
              <a:spcAft>
                <a:spcPts val="500"/>
              </a:spcAft>
            </a:pPr>
            <a:r>
              <a:rPr sz="1400" b="0" i="0">
                <a:solidFill>
                  <a:srgbClr val="DCDFE4"/>
                </a:solidFill>
                <a:latin typeface="Segoe UI"/>
              </a:rPr>
              <a:t>1.  Gramática BNF  —  54 reglas, 108 alternativas, sin recursividad izquierda y LL(1)</a:t>
            </a:r>
          </a:p>
          <a:p>
            <a:pPr algn="l">
              <a:lnSpc>
                <a:spcPct val="120000"/>
              </a:lnSpc>
              <a:spcBef>
                <a:spcPts val="0"/>
              </a:spcBef>
              <a:spcAft>
                <a:spcPts val="500"/>
              </a:spcAft>
            </a:pPr>
            <a:r>
              <a:rPr sz="1400" b="0" i="0">
                <a:solidFill>
                  <a:srgbClr val="DCDFE4"/>
                </a:solidFill>
                <a:latin typeface="Segoe UI"/>
              </a:rPr>
              <a:t>2.  Analizador léxico  —  54 categorías de token, con fila, columna y reporte de errores</a:t>
            </a:r>
          </a:p>
          <a:p>
            <a:pPr algn="l">
              <a:lnSpc>
                <a:spcPct val="120000"/>
              </a:lnSpc>
              <a:spcBef>
                <a:spcPts val="0"/>
              </a:spcBef>
              <a:spcAft>
                <a:spcPts val="500"/>
              </a:spcAft>
            </a:pPr>
            <a:r>
              <a:rPr sz="1400" b="0" i="0">
                <a:solidFill>
                  <a:srgbClr val="DCDFE4"/>
                </a:solidFill>
                <a:latin typeface="Segoe UI"/>
              </a:rPr>
              <a:t>3.  Aplicación web en Streamlit  —  visualización, tabla de símbolos y errores en vivo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21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475488"/>
            <a:ext cx="50292" cy="841248"/>
          </a:xfrm>
          <a:prstGeom prst="rect">
            <a:avLst/>
          </a:prstGeom>
          <a:solidFill>
            <a:srgbClr val="C678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438912"/>
            <a:ext cx="7863840" cy="960120"/>
          </a:xfrm>
          <a:prstGeom prst="rect">
            <a:avLst/>
          </a:prstGeom>
          <a:noFill/>
        </p:spPr>
        <p:txBody>
          <a:bodyPr wrap="square" lIns="0" tIns="0" rIns="0" bIns="0" anchor="t">
            <a:spAutoFit/>
          </a:bodyPr>
          <a:lstStyle/>
          <a:p>
            <a:pPr algn="l">
              <a:lnSpc>
                <a:spcPct val="115000"/>
              </a:lnSpc>
              <a:spcBef>
                <a:spcPts val="0"/>
              </a:spcBef>
              <a:spcAft>
                <a:spcPts val="300"/>
              </a:spcAft>
            </a:pPr>
            <a:r>
              <a:rPr sz="1150" b="1" i="0">
                <a:solidFill>
                  <a:srgbClr val="C678DD"/>
                </a:solidFill>
                <a:latin typeface="Segoe UI"/>
              </a:rPr>
              <a:t>1.1  COHERENCIA CON EL DESTINO</a:t>
            </a:r>
          </a:p>
          <a:p>
            <a:pPr algn="l">
              <a:lnSpc>
                <a:spcPct val="100000"/>
              </a:lnSpc>
              <a:spcBef>
                <a:spcPts val="0"/>
              </a:spcBef>
              <a:spcAft>
                <a:spcPts val="0"/>
              </a:spcAft>
            </a:pPr>
            <a:r>
              <a:rPr sz="2900" b="1" i="0">
                <a:solidFill>
                  <a:srgbClr val="DCDFE4"/>
                </a:solidFill>
                <a:latin typeface="Segoe UI"/>
              </a:rPr>
              <a:t>Gleam decidió el diseño del lenguaje</a:t>
            </a:r>
          </a:p>
        </p:txBody>
      </p:sp>
      <p:sp>
        <p:nvSpPr>
          <p:cNvPr id="7" name="TextBox 6"/>
          <p:cNvSpPr txBox="1"/>
          <p:nvPr/>
        </p:nvSpPr>
        <p:spPr>
          <a:xfrm>
            <a:off x="658368" y="1627632"/>
            <a:ext cx="5257800" cy="365760"/>
          </a:xfrm>
          <a:prstGeom prst="rect">
            <a:avLst/>
          </a:prstGeom>
          <a:noFill/>
        </p:spPr>
        <p:txBody>
          <a:bodyPr wrap="square" lIns="0" tIns="0" rIns="0" bIns="0" anchor="t">
            <a:spAutoFit/>
          </a:bodyPr>
          <a:lstStyle/>
          <a:p>
            <a:pPr algn="l">
              <a:lnSpc>
                <a:spcPct val="115000"/>
              </a:lnSpc>
              <a:spcBef>
                <a:spcPts val="0"/>
              </a:spcBef>
              <a:spcAft>
                <a:spcPts val="1000"/>
              </a:spcAft>
            </a:pPr>
            <a:r>
              <a:rPr sz="1100" b="1" i="0">
                <a:solidFill>
                  <a:srgbClr val="E06C75"/>
                </a:solidFill>
                <a:latin typeface="Segoe UI"/>
              </a:rPr>
              <a:t>LO QUE GLEAM NO TIENE</a:t>
            </a:r>
          </a:p>
        </p:txBody>
      </p:sp>
      <p:sp>
        <p:nvSpPr>
          <p:cNvPr id="8" name="TextBox 7"/>
          <p:cNvSpPr txBox="1"/>
          <p:nvPr/>
        </p:nvSpPr>
        <p:spPr>
          <a:xfrm>
            <a:off x="658368" y="1965960"/>
            <a:ext cx="5120640" cy="365760"/>
          </a:xfrm>
          <a:prstGeom prst="rect">
            <a:avLst/>
          </a:prstGeom>
          <a:noFill/>
        </p:spPr>
        <p:txBody>
          <a:bodyPr wrap="square" lIns="0" tIns="0" rIns="0" bIns="0" anchor="t">
            <a:spAutoFit/>
          </a:bodyPr>
          <a:lstStyle/>
          <a:p>
            <a:pPr algn="l">
              <a:lnSpc>
                <a:spcPct val="120000"/>
              </a:lnSpc>
              <a:spcBef>
                <a:spcPts val="0"/>
              </a:spcBef>
              <a:spcAft>
                <a:spcPts val="1200"/>
              </a:spcAft>
            </a:pPr>
            <a:r>
              <a:rPr sz="1350" b="1">
                <a:solidFill>
                  <a:srgbClr val="E06C75"/>
                </a:solidFill>
                <a:latin typeface="Segoe UI"/>
              </a:rPr>
              <a:t>▪  </a:t>
            </a:r>
            <a:r>
              <a:rPr sz="1350" b="0">
                <a:solidFill>
                  <a:srgbClr val="DCDFE4"/>
                </a:solidFill>
                <a:latin typeface="Segoe UI"/>
              </a:rPr>
              <a:t>Es funcional: no existen ciclos while ni for.</a:t>
            </a:r>
          </a:p>
          <a:p>
            <a:pPr algn="l">
              <a:lnSpc>
                <a:spcPct val="120000"/>
              </a:lnSpc>
              <a:spcBef>
                <a:spcPts val="0"/>
              </a:spcBef>
              <a:spcAft>
                <a:spcPts val="1200"/>
              </a:spcAft>
            </a:pPr>
            <a:r>
              <a:rPr sz="1350" b="1">
                <a:solidFill>
                  <a:srgbClr val="E06C75"/>
                </a:solidFill>
                <a:latin typeface="Segoe UI"/>
              </a:rPr>
              <a:t>▪  </a:t>
            </a:r>
            <a:r>
              <a:rPr sz="1350" b="0">
                <a:solidFill>
                  <a:srgbClr val="DCDFE4"/>
                </a:solidFill>
                <a:latin typeface="Segoe UI"/>
              </a:rPr>
              <a:t>Es inmutable: una variable no se reasigna.</a:t>
            </a:r>
          </a:p>
          <a:p>
            <a:pPr algn="l">
              <a:lnSpc>
                <a:spcPct val="120000"/>
              </a:lnSpc>
              <a:spcBef>
                <a:spcPts val="0"/>
              </a:spcBef>
              <a:spcAft>
                <a:spcPts val="1200"/>
              </a:spcAft>
            </a:pPr>
            <a:r>
              <a:rPr sz="1350" b="1">
                <a:solidFill>
                  <a:srgbClr val="E06C75"/>
                </a:solidFill>
                <a:latin typeface="Segoe UI"/>
              </a:rPr>
              <a:t>▪  </a:t>
            </a:r>
            <a:r>
              <a:rPr sz="1350" b="0">
                <a:solidFill>
                  <a:srgbClr val="DCDFE4"/>
                </a:solidFill>
                <a:latin typeface="Segoe UI"/>
              </a:rPr>
              <a:t>No hay return anticipado ni if-else: todo es case.</a:t>
            </a:r>
          </a:p>
          <a:p>
            <a:pPr algn="l">
              <a:lnSpc>
                <a:spcPct val="120000"/>
              </a:lnSpc>
              <a:spcBef>
                <a:spcPts val="0"/>
              </a:spcBef>
              <a:spcAft>
                <a:spcPts val="1200"/>
              </a:spcAft>
            </a:pPr>
            <a:r>
              <a:rPr sz="1350" b="1">
                <a:solidFill>
                  <a:srgbClr val="E06C75"/>
                </a:solidFill>
                <a:latin typeface="Segoe UI"/>
              </a:rPr>
              <a:t>▪  </a:t>
            </a:r>
            <a:r>
              <a:rPr sz="1350" b="0">
                <a:solidFill>
                  <a:srgbClr val="DCDFE4"/>
                </a:solidFill>
                <a:latin typeface="Segoe UI"/>
              </a:rPr>
              <a:t>Separa enteros de reales: se suma con + o con +. según el tipo.</a:t>
            </a:r>
          </a:p>
        </p:txBody>
      </p:sp>
      <p:sp>
        <p:nvSpPr>
          <p:cNvPr id="9" name="TextBox 8"/>
          <p:cNvSpPr txBox="1"/>
          <p:nvPr/>
        </p:nvSpPr>
        <p:spPr>
          <a:xfrm>
            <a:off x="6263640" y="1627632"/>
            <a:ext cx="5257800" cy="365760"/>
          </a:xfrm>
          <a:prstGeom prst="rect">
            <a:avLst/>
          </a:prstGeom>
          <a:noFill/>
        </p:spPr>
        <p:txBody>
          <a:bodyPr wrap="square" lIns="0" tIns="0" rIns="0" bIns="0" anchor="t">
            <a:spAutoFit/>
          </a:bodyPr>
          <a:lstStyle/>
          <a:p>
            <a:pPr algn="l">
              <a:lnSpc>
                <a:spcPct val="115000"/>
              </a:lnSpc>
              <a:spcBef>
                <a:spcPts val="0"/>
              </a:spcBef>
              <a:spcAft>
                <a:spcPts val="1000"/>
              </a:spcAft>
            </a:pPr>
            <a:r>
              <a:rPr sz="1100" b="1" i="0">
                <a:solidFill>
                  <a:srgbClr val="98C379"/>
                </a:solidFill>
                <a:latin typeface="Segoe UI"/>
              </a:rPr>
              <a:t>LO QUE ESO NOS OBLIGÓ A HACER</a:t>
            </a:r>
          </a:p>
        </p:txBody>
      </p:sp>
      <p:sp>
        <p:nvSpPr>
          <p:cNvPr id="10" name="TextBox 9"/>
          <p:cNvSpPr txBox="1"/>
          <p:nvPr/>
        </p:nvSpPr>
        <p:spPr>
          <a:xfrm>
            <a:off x="6263640" y="1965960"/>
            <a:ext cx="5120640" cy="365760"/>
          </a:xfrm>
          <a:prstGeom prst="rect">
            <a:avLst/>
          </a:prstGeom>
          <a:noFill/>
        </p:spPr>
        <p:txBody>
          <a:bodyPr wrap="square" lIns="0" tIns="0" rIns="0" bIns="0" anchor="t">
            <a:spAutoFit/>
          </a:bodyPr>
          <a:lstStyle/>
          <a:p>
            <a:pPr algn="l">
              <a:lnSpc>
                <a:spcPct val="120000"/>
              </a:lnSpc>
              <a:spcBef>
                <a:spcPts val="0"/>
              </a:spcBef>
              <a:spcAft>
                <a:spcPts val="1200"/>
              </a:spcAft>
            </a:pPr>
            <a:r>
              <a:rPr sz="1350" b="1">
                <a:solidFill>
                  <a:srgbClr val="98C379"/>
                </a:solidFill>
                <a:latin typeface="Segoe UI"/>
              </a:rPr>
              <a:t>▪  </a:t>
            </a:r>
            <a:r>
              <a:rPr sz="1350" b="0">
                <a:solidFill>
                  <a:srgbClr val="DCDFE4"/>
                </a:solidFill>
                <a:latin typeface="Segoe UI"/>
              </a:rPr>
              <a:t>Solo cuatro tipos básicos, que calzan uno a uno con Gleam.</a:t>
            </a:r>
          </a:p>
          <a:p>
            <a:pPr algn="l">
              <a:lnSpc>
                <a:spcPct val="120000"/>
              </a:lnSpc>
              <a:spcBef>
                <a:spcPts val="0"/>
              </a:spcBef>
              <a:spcAft>
                <a:spcPts val="1200"/>
              </a:spcAft>
            </a:pPr>
            <a:r>
              <a:rPr sz="1350" b="1">
                <a:solidFill>
                  <a:srgbClr val="98C379"/>
                </a:solidFill>
                <a:latin typeface="Segoe UI"/>
              </a:rPr>
              <a:t>▪  </a:t>
            </a:r>
            <a:r>
              <a:rPr sz="1350" b="0">
                <a:solidFill>
                  <a:srgbClr val="DCDFE4"/>
                </a:solidFill>
                <a:latin typeface="Segoe UI"/>
              </a:rPr>
              <a:t>El lexer distingue el entero del real desde el primer momento.</a:t>
            </a:r>
          </a:p>
          <a:p>
            <a:pPr algn="l">
              <a:lnSpc>
                <a:spcPct val="120000"/>
              </a:lnSpc>
              <a:spcBef>
                <a:spcPts val="0"/>
              </a:spcBef>
              <a:spcAft>
                <a:spcPts val="1200"/>
              </a:spcAft>
            </a:pPr>
            <a:r>
              <a:rPr sz="1350" b="1">
                <a:solidFill>
                  <a:srgbClr val="98C379"/>
                </a:solidFill>
                <a:latin typeface="Segoe UI"/>
              </a:rPr>
              <a:t>▪  </a:t>
            </a:r>
            <a:r>
              <a:rPr sz="1350" b="0">
                <a:solidFill>
                  <a:srgbClr val="DCDFE4"/>
                </a:solidFill>
                <a:latin typeface="Segoe UI"/>
              </a:rPr>
              <a:t>Cada bloque cierra con su propia palabra reservada.</a:t>
            </a:r>
          </a:p>
          <a:p>
            <a:pPr algn="l">
              <a:lnSpc>
                <a:spcPct val="120000"/>
              </a:lnSpc>
              <a:spcBef>
                <a:spcPts val="0"/>
              </a:spcBef>
              <a:spcAft>
                <a:spcPts val="1200"/>
              </a:spcAft>
            </a:pPr>
            <a:r>
              <a:rPr sz="1350" b="1">
                <a:solidFill>
                  <a:srgbClr val="98C379"/>
                </a:solidFill>
                <a:latin typeface="Segoe UI"/>
              </a:rPr>
              <a:t>▪  </a:t>
            </a:r>
            <a:r>
              <a:rPr sz="1350" b="0">
                <a:solidFill>
                  <a:srgbClr val="DCDFE4"/>
                </a:solidFill>
                <a:latin typeface="Segoe UI"/>
              </a:rPr>
              <a:t>La asignación siempre lleva pille_pues: es un let, no una mutación.</a:t>
            </a:r>
          </a:p>
        </p:txBody>
      </p:sp>
      <p:sp>
        <p:nvSpPr>
          <p:cNvPr id="11" name="Rounded Rectangle 10"/>
          <p:cNvSpPr/>
          <p:nvPr/>
        </p:nvSpPr>
        <p:spPr>
          <a:xfrm>
            <a:off x="658368" y="4462272"/>
            <a:ext cx="10881360" cy="320040"/>
          </a:xfrm>
          <a:prstGeom prst="roundRect">
            <a:avLst>
              <a:gd name="adj" fmla="val 10000"/>
            </a:avLst>
          </a:prstGeom>
          <a:solidFill>
            <a:srgbClr val="3237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2" y="4462272"/>
            <a:ext cx="3108960" cy="320040"/>
          </a:xfrm>
          <a:prstGeom prst="rect">
            <a:avLst/>
          </a:prstGeom>
          <a:noFill/>
        </p:spPr>
        <p:txBody>
          <a:bodyPr wrap="square" lIns="0" tIns="0" rIns="0" bIns="0" anchor="ctr">
            <a:spAutoFit/>
          </a:bodyPr>
          <a:lstStyle/>
          <a:p>
            <a:pPr algn="l">
              <a:lnSpc>
                <a:spcPct val="115000"/>
              </a:lnSpc>
              <a:spcBef>
                <a:spcPts val="0"/>
              </a:spcBef>
              <a:spcAft>
                <a:spcPts val="0"/>
              </a:spcAft>
            </a:pPr>
            <a:r>
              <a:rPr sz="1150" b="1" i="0">
                <a:solidFill>
                  <a:srgbClr val="C678DD"/>
                </a:solidFill>
                <a:latin typeface="Segoe UI"/>
              </a:rPr>
              <a:t>Paisascript</a:t>
            </a:r>
          </a:p>
        </p:txBody>
      </p:sp>
      <p:sp>
        <p:nvSpPr>
          <p:cNvPr id="13" name="TextBox 12"/>
          <p:cNvSpPr txBox="1"/>
          <p:nvPr/>
        </p:nvSpPr>
        <p:spPr>
          <a:xfrm>
            <a:off x="3913632" y="4462272"/>
            <a:ext cx="2377440" cy="320040"/>
          </a:xfrm>
          <a:prstGeom prst="rect">
            <a:avLst/>
          </a:prstGeom>
          <a:noFill/>
        </p:spPr>
        <p:txBody>
          <a:bodyPr wrap="square" lIns="0" tIns="0" rIns="0" bIns="0" anchor="ctr">
            <a:spAutoFit/>
          </a:bodyPr>
          <a:lstStyle/>
          <a:p>
            <a:pPr algn="l">
              <a:lnSpc>
                <a:spcPct val="115000"/>
              </a:lnSpc>
              <a:spcBef>
                <a:spcPts val="0"/>
              </a:spcBef>
              <a:spcAft>
                <a:spcPts val="0"/>
              </a:spcAft>
            </a:pPr>
            <a:r>
              <a:rPr sz="1150" b="1" i="0">
                <a:solidFill>
                  <a:srgbClr val="C678DD"/>
                </a:solidFill>
                <a:latin typeface="Segoe UI"/>
              </a:rPr>
              <a:t>Gleam</a:t>
            </a:r>
          </a:p>
        </p:txBody>
      </p:sp>
      <p:sp>
        <p:nvSpPr>
          <p:cNvPr id="14" name="TextBox 13"/>
          <p:cNvSpPr txBox="1"/>
          <p:nvPr/>
        </p:nvSpPr>
        <p:spPr>
          <a:xfrm>
            <a:off x="6291072" y="4462272"/>
            <a:ext cx="5120640" cy="320040"/>
          </a:xfrm>
          <a:prstGeom prst="rect">
            <a:avLst/>
          </a:prstGeom>
          <a:noFill/>
        </p:spPr>
        <p:txBody>
          <a:bodyPr wrap="square" lIns="0" tIns="0" rIns="0" bIns="0" anchor="ctr">
            <a:spAutoFit/>
          </a:bodyPr>
          <a:lstStyle/>
          <a:p>
            <a:pPr algn="l">
              <a:lnSpc>
                <a:spcPct val="115000"/>
              </a:lnSpc>
              <a:spcBef>
                <a:spcPts val="0"/>
              </a:spcBef>
              <a:spcAft>
                <a:spcPts val="0"/>
              </a:spcAft>
            </a:pPr>
            <a:r>
              <a:rPr sz="1150" b="1" i="0">
                <a:solidFill>
                  <a:srgbClr val="C678DD"/>
                </a:solidFill>
                <a:latin typeface="Segoe UI"/>
              </a:rPr>
              <a:t>Qué es</a:t>
            </a:r>
          </a:p>
        </p:txBody>
      </p:sp>
      <p:sp>
        <p:nvSpPr>
          <p:cNvPr id="15" name="Rounded Rectangle 14"/>
          <p:cNvSpPr/>
          <p:nvPr/>
        </p:nvSpPr>
        <p:spPr>
          <a:xfrm>
            <a:off x="658368" y="4782312"/>
            <a:ext cx="10881360" cy="320040"/>
          </a:xfrm>
          <a:prstGeom prst="roundRect">
            <a:avLst>
              <a:gd name="adj" fmla="val 10000"/>
            </a:avLst>
          </a:prstGeom>
          <a:solidFill>
            <a:srgbClr val="282C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04672" y="4782312"/>
            <a:ext cx="3108960" cy="320040"/>
          </a:xfrm>
          <a:prstGeom prst="rect">
            <a:avLst/>
          </a:prstGeom>
          <a:noFill/>
        </p:spPr>
        <p:txBody>
          <a:bodyPr wrap="square" lIns="0" tIns="0" rIns="0" bIns="0" anchor="ctr">
            <a:spAutoFit/>
          </a:bodyPr>
          <a:lstStyle/>
          <a:p>
            <a:pPr algn="l">
              <a:lnSpc>
                <a:spcPct val="115000"/>
              </a:lnSpc>
              <a:spcBef>
                <a:spcPts val="0"/>
              </a:spcBef>
              <a:spcAft>
                <a:spcPts val="0"/>
              </a:spcAft>
            </a:pPr>
            <a:r>
              <a:rPr sz="1300" b="0" i="0">
                <a:solidFill>
                  <a:srgbClr val="98C379"/>
                </a:solidFill>
                <a:latin typeface="Consolas"/>
              </a:rPr>
              <a:t>numerito</a:t>
            </a:r>
          </a:p>
        </p:txBody>
      </p:sp>
      <p:sp>
        <p:nvSpPr>
          <p:cNvPr id="17" name="TextBox 16"/>
          <p:cNvSpPr txBox="1"/>
          <p:nvPr/>
        </p:nvSpPr>
        <p:spPr>
          <a:xfrm>
            <a:off x="3913632" y="4782312"/>
            <a:ext cx="2377440" cy="320040"/>
          </a:xfrm>
          <a:prstGeom prst="rect">
            <a:avLst/>
          </a:prstGeom>
          <a:noFill/>
        </p:spPr>
        <p:txBody>
          <a:bodyPr wrap="square" lIns="0" tIns="0" rIns="0" bIns="0" anchor="ctr">
            <a:spAutoFit/>
          </a:bodyPr>
          <a:lstStyle/>
          <a:p>
            <a:pPr algn="l">
              <a:lnSpc>
                <a:spcPct val="115000"/>
              </a:lnSpc>
              <a:spcBef>
                <a:spcPts val="0"/>
              </a:spcBef>
              <a:spcAft>
                <a:spcPts val="0"/>
              </a:spcAft>
            </a:pPr>
            <a:r>
              <a:rPr sz="1300" b="0" i="0">
                <a:solidFill>
                  <a:srgbClr val="DCDFE4"/>
                </a:solidFill>
                <a:latin typeface="Segoe UI"/>
              </a:rPr>
              <a:t>Int</a:t>
            </a:r>
          </a:p>
        </p:txBody>
      </p:sp>
      <p:sp>
        <p:nvSpPr>
          <p:cNvPr id="18" name="TextBox 17"/>
          <p:cNvSpPr txBox="1"/>
          <p:nvPr/>
        </p:nvSpPr>
        <p:spPr>
          <a:xfrm>
            <a:off x="6291072" y="4782312"/>
            <a:ext cx="5120640" cy="320040"/>
          </a:xfrm>
          <a:prstGeom prst="rect">
            <a:avLst/>
          </a:prstGeom>
          <a:noFill/>
        </p:spPr>
        <p:txBody>
          <a:bodyPr wrap="square" lIns="0" tIns="0" rIns="0" bIns="0" anchor="ctr">
            <a:spAutoFit/>
          </a:bodyPr>
          <a:lstStyle/>
          <a:p>
            <a:pPr algn="l">
              <a:lnSpc>
                <a:spcPct val="115000"/>
              </a:lnSpc>
              <a:spcBef>
                <a:spcPts val="0"/>
              </a:spcBef>
              <a:spcAft>
                <a:spcPts val="0"/>
              </a:spcAft>
            </a:pPr>
            <a:r>
              <a:rPr sz="1300" b="0" i="0">
                <a:solidFill>
                  <a:srgbClr val="9AA2B1"/>
                </a:solidFill>
                <a:latin typeface="Segoe UI"/>
              </a:rPr>
              <a:t>Entero con signo</a:t>
            </a:r>
          </a:p>
        </p:txBody>
      </p:sp>
      <p:sp>
        <p:nvSpPr>
          <p:cNvPr id="19" name="TextBox 18"/>
          <p:cNvSpPr txBox="1"/>
          <p:nvPr/>
        </p:nvSpPr>
        <p:spPr>
          <a:xfrm>
            <a:off x="804672" y="5102352"/>
            <a:ext cx="3108960" cy="320040"/>
          </a:xfrm>
          <a:prstGeom prst="rect">
            <a:avLst/>
          </a:prstGeom>
          <a:noFill/>
        </p:spPr>
        <p:txBody>
          <a:bodyPr wrap="square" lIns="0" tIns="0" rIns="0" bIns="0" anchor="ctr">
            <a:spAutoFit/>
          </a:bodyPr>
          <a:lstStyle/>
          <a:p>
            <a:pPr algn="l">
              <a:lnSpc>
                <a:spcPct val="115000"/>
              </a:lnSpc>
              <a:spcBef>
                <a:spcPts val="0"/>
              </a:spcBef>
              <a:spcAft>
                <a:spcPts val="0"/>
              </a:spcAft>
            </a:pPr>
            <a:r>
              <a:rPr sz="1300" b="0" i="0">
                <a:solidFill>
                  <a:srgbClr val="98C379"/>
                </a:solidFill>
                <a:latin typeface="Consolas"/>
              </a:rPr>
              <a:t>quebradito</a:t>
            </a:r>
          </a:p>
        </p:txBody>
      </p:sp>
      <p:sp>
        <p:nvSpPr>
          <p:cNvPr id="20" name="TextBox 19"/>
          <p:cNvSpPr txBox="1"/>
          <p:nvPr/>
        </p:nvSpPr>
        <p:spPr>
          <a:xfrm>
            <a:off x="3913632" y="5102352"/>
            <a:ext cx="2377440" cy="320040"/>
          </a:xfrm>
          <a:prstGeom prst="rect">
            <a:avLst/>
          </a:prstGeom>
          <a:noFill/>
        </p:spPr>
        <p:txBody>
          <a:bodyPr wrap="square" lIns="0" tIns="0" rIns="0" bIns="0" anchor="ctr">
            <a:spAutoFit/>
          </a:bodyPr>
          <a:lstStyle/>
          <a:p>
            <a:pPr algn="l">
              <a:lnSpc>
                <a:spcPct val="115000"/>
              </a:lnSpc>
              <a:spcBef>
                <a:spcPts val="0"/>
              </a:spcBef>
              <a:spcAft>
                <a:spcPts val="0"/>
              </a:spcAft>
            </a:pPr>
            <a:r>
              <a:rPr sz="1300" b="0" i="0">
                <a:solidFill>
                  <a:srgbClr val="DCDFE4"/>
                </a:solidFill>
                <a:latin typeface="Segoe UI"/>
              </a:rPr>
              <a:t>Float</a:t>
            </a:r>
          </a:p>
        </p:txBody>
      </p:sp>
      <p:sp>
        <p:nvSpPr>
          <p:cNvPr id="21" name="TextBox 20"/>
          <p:cNvSpPr txBox="1"/>
          <p:nvPr/>
        </p:nvSpPr>
        <p:spPr>
          <a:xfrm>
            <a:off x="6291072" y="5102352"/>
            <a:ext cx="5120640" cy="320040"/>
          </a:xfrm>
          <a:prstGeom prst="rect">
            <a:avLst/>
          </a:prstGeom>
          <a:noFill/>
        </p:spPr>
        <p:txBody>
          <a:bodyPr wrap="square" lIns="0" tIns="0" rIns="0" bIns="0" anchor="ctr">
            <a:spAutoFit/>
          </a:bodyPr>
          <a:lstStyle/>
          <a:p>
            <a:pPr algn="l">
              <a:lnSpc>
                <a:spcPct val="115000"/>
              </a:lnSpc>
              <a:spcBef>
                <a:spcPts val="0"/>
              </a:spcBef>
              <a:spcAft>
                <a:spcPts val="0"/>
              </a:spcAft>
            </a:pPr>
            <a:r>
              <a:rPr sz="1300" b="0" i="0">
                <a:solidFill>
                  <a:srgbClr val="9AA2B1"/>
                </a:solidFill>
                <a:latin typeface="Segoe UI"/>
              </a:rPr>
              <a:t>Real de punto flotante</a:t>
            </a:r>
          </a:p>
        </p:txBody>
      </p:sp>
      <p:sp>
        <p:nvSpPr>
          <p:cNvPr id="22" name="Rounded Rectangle 21"/>
          <p:cNvSpPr/>
          <p:nvPr/>
        </p:nvSpPr>
        <p:spPr>
          <a:xfrm>
            <a:off x="658368" y="5422392"/>
            <a:ext cx="10881360" cy="320040"/>
          </a:xfrm>
          <a:prstGeom prst="roundRect">
            <a:avLst>
              <a:gd name="adj" fmla="val 10000"/>
            </a:avLst>
          </a:prstGeom>
          <a:solidFill>
            <a:srgbClr val="282C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04672" y="5422392"/>
            <a:ext cx="3108960" cy="320040"/>
          </a:xfrm>
          <a:prstGeom prst="rect">
            <a:avLst/>
          </a:prstGeom>
          <a:noFill/>
        </p:spPr>
        <p:txBody>
          <a:bodyPr wrap="square" lIns="0" tIns="0" rIns="0" bIns="0" anchor="ctr">
            <a:spAutoFit/>
          </a:bodyPr>
          <a:lstStyle/>
          <a:p>
            <a:pPr algn="l">
              <a:lnSpc>
                <a:spcPct val="115000"/>
              </a:lnSpc>
              <a:spcBef>
                <a:spcPts val="0"/>
              </a:spcBef>
              <a:spcAft>
                <a:spcPts val="0"/>
              </a:spcAft>
            </a:pPr>
            <a:r>
              <a:rPr sz="1300" b="0" i="0">
                <a:solidFill>
                  <a:srgbClr val="98C379"/>
                </a:solidFill>
                <a:latin typeface="Consolas"/>
              </a:rPr>
              <a:t>cuento</a:t>
            </a:r>
          </a:p>
        </p:txBody>
      </p:sp>
      <p:sp>
        <p:nvSpPr>
          <p:cNvPr id="24" name="TextBox 23"/>
          <p:cNvSpPr txBox="1"/>
          <p:nvPr/>
        </p:nvSpPr>
        <p:spPr>
          <a:xfrm>
            <a:off x="3913632" y="5422392"/>
            <a:ext cx="2377440" cy="320040"/>
          </a:xfrm>
          <a:prstGeom prst="rect">
            <a:avLst/>
          </a:prstGeom>
          <a:noFill/>
        </p:spPr>
        <p:txBody>
          <a:bodyPr wrap="square" lIns="0" tIns="0" rIns="0" bIns="0" anchor="ctr">
            <a:spAutoFit/>
          </a:bodyPr>
          <a:lstStyle/>
          <a:p>
            <a:pPr algn="l">
              <a:lnSpc>
                <a:spcPct val="115000"/>
              </a:lnSpc>
              <a:spcBef>
                <a:spcPts val="0"/>
              </a:spcBef>
              <a:spcAft>
                <a:spcPts val="0"/>
              </a:spcAft>
            </a:pPr>
            <a:r>
              <a:rPr sz="1300" b="0" i="0">
                <a:solidFill>
                  <a:srgbClr val="DCDFE4"/>
                </a:solidFill>
                <a:latin typeface="Segoe UI"/>
              </a:rPr>
              <a:t>String</a:t>
            </a:r>
          </a:p>
        </p:txBody>
      </p:sp>
      <p:sp>
        <p:nvSpPr>
          <p:cNvPr id="25" name="TextBox 24"/>
          <p:cNvSpPr txBox="1"/>
          <p:nvPr/>
        </p:nvSpPr>
        <p:spPr>
          <a:xfrm>
            <a:off x="6291072" y="5422392"/>
            <a:ext cx="5120640" cy="320040"/>
          </a:xfrm>
          <a:prstGeom prst="rect">
            <a:avLst/>
          </a:prstGeom>
          <a:noFill/>
        </p:spPr>
        <p:txBody>
          <a:bodyPr wrap="square" lIns="0" tIns="0" rIns="0" bIns="0" anchor="ctr">
            <a:spAutoFit/>
          </a:bodyPr>
          <a:lstStyle/>
          <a:p>
            <a:pPr algn="l">
              <a:lnSpc>
                <a:spcPct val="115000"/>
              </a:lnSpc>
              <a:spcBef>
                <a:spcPts val="0"/>
              </a:spcBef>
              <a:spcAft>
                <a:spcPts val="0"/>
              </a:spcAft>
            </a:pPr>
            <a:r>
              <a:rPr sz="1300" b="0" i="0">
                <a:solidFill>
                  <a:srgbClr val="9AA2B1"/>
                </a:solidFill>
                <a:latin typeface="Segoe UI"/>
              </a:rPr>
              <a:t>Cadena UTF-8</a:t>
            </a:r>
          </a:p>
        </p:txBody>
      </p:sp>
      <p:sp>
        <p:nvSpPr>
          <p:cNvPr id="26" name="TextBox 25"/>
          <p:cNvSpPr txBox="1"/>
          <p:nvPr/>
        </p:nvSpPr>
        <p:spPr>
          <a:xfrm>
            <a:off x="804672" y="5742432"/>
            <a:ext cx="3108960" cy="320040"/>
          </a:xfrm>
          <a:prstGeom prst="rect">
            <a:avLst/>
          </a:prstGeom>
          <a:noFill/>
        </p:spPr>
        <p:txBody>
          <a:bodyPr wrap="square" lIns="0" tIns="0" rIns="0" bIns="0" anchor="ctr">
            <a:spAutoFit/>
          </a:bodyPr>
          <a:lstStyle/>
          <a:p>
            <a:pPr algn="l">
              <a:lnSpc>
                <a:spcPct val="115000"/>
              </a:lnSpc>
              <a:spcBef>
                <a:spcPts val="0"/>
              </a:spcBef>
              <a:spcAft>
                <a:spcPts val="0"/>
              </a:spcAft>
            </a:pPr>
            <a:r>
              <a:rPr sz="1300" b="0" i="0">
                <a:solidFill>
                  <a:srgbClr val="98C379"/>
                </a:solidFill>
                <a:latin typeface="Consolas"/>
              </a:rPr>
              <a:t>siono</a:t>
            </a:r>
          </a:p>
        </p:txBody>
      </p:sp>
      <p:sp>
        <p:nvSpPr>
          <p:cNvPr id="27" name="TextBox 26"/>
          <p:cNvSpPr txBox="1"/>
          <p:nvPr/>
        </p:nvSpPr>
        <p:spPr>
          <a:xfrm>
            <a:off x="3913632" y="5742432"/>
            <a:ext cx="2377440" cy="320040"/>
          </a:xfrm>
          <a:prstGeom prst="rect">
            <a:avLst/>
          </a:prstGeom>
          <a:noFill/>
        </p:spPr>
        <p:txBody>
          <a:bodyPr wrap="square" lIns="0" tIns="0" rIns="0" bIns="0" anchor="ctr">
            <a:spAutoFit/>
          </a:bodyPr>
          <a:lstStyle/>
          <a:p>
            <a:pPr algn="l">
              <a:lnSpc>
                <a:spcPct val="115000"/>
              </a:lnSpc>
              <a:spcBef>
                <a:spcPts val="0"/>
              </a:spcBef>
              <a:spcAft>
                <a:spcPts val="0"/>
              </a:spcAft>
            </a:pPr>
            <a:r>
              <a:rPr sz="1300" b="0" i="0">
                <a:solidFill>
                  <a:srgbClr val="DCDFE4"/>
                </a:solidFill>
                <a:latin typeface="Segoe UI"/>
              </a:rPr>
              <a:t>Bool</a:t>
            </a:r>
          </a:p>
        </p:txBody>
      </p:sp>
      <p:sp>
        <p:nvSpPr>
          <p:cNvPr id="28" name="TextBox 27"/>
          <p:cNvSpPr txBox="1"/>
          <p:nvPr/>
        </p:nvSpPr>
        <p:spPr>
          <a:xfrm>
            <a:off x="6291072" y="5742432"/>
            <a:ext cx="5120640" cy="320040"/>
          </a:xfrm>
          <a:prstGeom prst="rect">
            <a:avLst/>
          </a:prstGeom>
          <a:noFill/>
        </p:spPr>
        <p:txBody>
          <a:bodyPr wrap="square" lIns="0" tIns="0" rIns="0" bIns="0" anchor="ctr">
            <a:spAutoFit/>
          </a:bodyPr>
          <a:lstStyle/>
          <a:p>
            <a:pPr algn="l">
              <a:lnSpc>
                <a:spcPct val="115000"/>
              </a:lnSpc>
              <a:spcBef>
                <a:spcPts val="0"/>
              </a:spcBef>
              <a:spcAft>
                <a:spcPts val="0"/>
              </a:spcAft>
            </a:pPr>
            <a:r>
              <a:rPr sz="1300" b="0" i="0">
                <a:solidFill>
                  <a:srgbClr val="9AA2B1"/>
                </a:solidFill>
                <a:latin typeface="Segoe UI"/>
              </a:rPr>
              <a:t>Booleano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288" y="36576"/>
            <a:ext cx="12191695" cy="6858000"/>
          </a:xfrm>
          <a:prstGeom prst="rect">
            <a:avLst/>
          </a:prstGeom>
          <a:solidFill>
            <a:srgbClr val="1E21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475488"/>
            <a:ext cx="50292" cy="841248"/>
          </a:xfrm>
          <a:prstGeom prst="rect">
            <a:avLst/>
          </a:prstGeom>
          <a:solidFill>
            <a:srgbClr val="C678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438912"/>
            <a:ext cx="7863840" cy="960120"/>
          </a:xfrm>
          <a:prstGeom prst="rect">
            <a:avLst/>
          </a:prstGeom>
          <a:noFill/>
        </p:spPr>
        <p:txBody>
          <a:bodyPr wrap="square" lIns="0" tIns="0" rIns="0" bIns="0" anchor="t">
            <a:spAutoFit/>
          </a:bodyPr>
          <a:lstStyle/>
          <a:p>
            <a:pPr algn="l">
              <a:lnSpc>
                <a:spcPct val="115000"/>
              </a:lnSpc>
              <a:spcBef>
                <a:spcPts val="0"/>
              </a:spcBef>
              <a:spcAft>
                <a:spcPts val="300"/>
              </a:spcAft>
            </a:pPr>
            <a:r>
              <a:rPr sz="1150" b="1" i="0">
                <a:solidFill>
                  <a:srgbClr val="C678DD"/>
                </a:solidFill>
                <a:latin typeface="Segoe UI"/>
              </a:rPr>
              <a:t>1.2  VOCABULARIO Y GRAMÁTICA</a:t>
            </a:r>
          </a:p>
          <a:p>
            <a:pPr algn="l">
              <a:lnSpc>
                <a:spcPct val="100000"/>
              </a:lnSpc>
              <a:spcBef>
                <a:spcPts val="0"/>
              </a:spcBef>
              <a:spcAft>
                <a:spcPts val="0"/>
              </a:spcAft>
            </a:pPr>
            <a:r>
              <a:rPr sz="2900" b="1" i="0">
                <a:solidFill>
                  <a:srgbClr val="DCDFE4"/>
                </a:solidFill>
                <a:latin typeface="Segoe UI"/>
              </a:rPr>
              <a:t>Gramática de 54 reglas, apta para LL(1)</a:t>
            </a:r>
          </a:p>
        </p:txBody>
      </p:sp>
      <p:sp>
        <p:nvSpPr>
          <p:cNvPr id="7" name="TextBox 6"/>
          <p:cNvSpPr txBox="1"/>
          <p:nvPr/>
        </p:nvSpPr>
        <p:spPr>
          <a:xfrm>
            <a:off x="658368" y="1572768"/>
            <a:ext cx="5029200" cy="365760"/>
          </a:xfrm>
          <a:prstGeom prst="rect">
            <a:avLst/>
          </a:prstGeom>
          <a:noFill/>
        </p:spPr>
        <p:txBody>
          <a:bodyPr wrap="square" lIns="0" tIns="0" rIns="0" bIns="0" anchor="t">
            <a:spAutoFit/>
          </a:bodyPr>
          <a:lstStyle/>
          <a:p>
            <a:pPr algn="l">
              <a:lnSpc>
                <a:spcPct val="115000"/>
              </a:lnSpc>
              <a:spcBef>
                <a:spcPts val="0"/>
              </a:spcBef>
              <a:spcAft>
                <a:spcPts val="800"/>
              </a:spcAft>
            </a:pPr>
            <a:r>
              <a:rPr sz="1100" b="1" i="0">
                <a:solidFill>
                  <a:srgbClr val="C678DD"/>
                </a:solidFill>
                <a:latin typeface="Segoe UI"/>
              </a:rPr>
              <a:t>EL VOCABULARIO</a:t>
            </a:r>
          </a:p>
        </p:txBody>
      </p:sp>
      <p:sp>
        <p:nvSpPr>
          <p:cNvPr id="8" name="Rounded Rectangle 7"/>
          <p:cNvSpPr/>
          <p:nvPr/>
        </p:nvSpPr>
        <p:spPr>
          <a:xfrm>
            <a:off x="658368" y="1901952"/>
            <a:ext cx="5120640" cy="306324"/>
          </a:xfrm>
          <a:prstGeom prst="roundRect">
            <a:avLst>
              <a:gd name="adj" fmla="val 10000"/>
            </a:avLst>
          </a:prstGeom>
          <a:solidFill>
            <a:srgbClr val="3237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4672" y="1901952"/>
            <a:ext cx="2514600" cy="306324"/>
          </a:xfrm>
          <a:prstGeom prst="rect">
            <a:avLst/>
          </a:prstGeom>
          <a:noFill/>
        </p:spPr>
        <p:txBody>
          <a:bodyPr wrap="square" lIns="0" tIns="0" rIns="0" bIns="0" anchor="ctr">
            <a:spAutoFit/>
          </a:bodyPr>
          <a:lstStyle/>
          <a:p>
            <a:pPr algn="l">
              <a:lnSpc>
                <a:spcPct val="115000"/>
              </a:lnSpc>
              <a:spcBef>
                <a:spcPts val="0"/>
              </a:spcBef>
              <a:spcAft>
                <a:spcPts val="0"/>
              </a:spcAft>
            </a:pPr>
            <a:r>
              <a:rPr sz="1000" b="1" i="0">
                <a:solidFill>
                  <a:srgbClr val="C678DD"/>
                </a:solidFill>
                <a:latin typeface="Segoe UI"/>
              </a:rPr>
              <a:t>Paisascript</a:t>
            </a:r>
          </a:p>
        </p:txBody>
      </p:sp>
      <p:sp>
        <p:nvSpPr>
          <p:cNvPr id="10" name="TextBox 9"/>
          <p:cNvSpPr txBox="1"/>
          <p:nvPr/>
        </p:nvSpPr>
        <p:spPr>
          <a:xfrm>
            <a:off x="3319272" y="1901952"/>
            <a:ext cx="1371600" cy="306324"/>
          </a:xfrm>
          <a:prstGeom prst="rect">
            <a:avLst/>
          </a:prstGeom>
          <a:noFill/>
        </p:spPr>
        <p:txBody>
          <a:bodyPr wrap="square" lIns="0" tIns="0" rIns="0" bIns="0" anchor="ctr">
            <a:spAutoFit/>
          </a:bodyPr>
          <a:lstStyle/>
          <a:p>
            <a:pPr algn="l">
              <a:lnSpc>
                <a:spcPct val="115000"/>
              </a:lnSpc>
              <a:spcBef>
                <a:spcPts val="0"/>
              </a:spcBef>
              <a:spcAft>
                <a:spcPts val="0"/>
              </a:spcAft>
            </a:pPr>
            <a:r>
              <a:rPr sz="1000" b="1" i="0">
                <a:solidFill>
                  <a:srgbClr val="C678DD"/>
                </a:solidFill>
                <a:latin typeface="Segoe UI"/>
              </a:rPr>
              <a:t>Equivale a</a:t>
            </a:r>
          </a:p>
        </p:txBody>
      </p:sp>
      <p:sp>
        <p:nvSpPr>
          <p:cNvPr id="11" name="TextBox 10"/>
          <p:cNvSpPr txBox="1"/>
          <p:nvPr/>
        </p:nvSpPr>
        <p:spPr>
          <a:xfrm>
            <a:off x="4690872" y="1901952"/>
            <a:ext cx="1371600" cy="306324"/>
          </a:xfrm>
          <a:prstGeom prst="rect">
            <a:avLst/>
          </a:prstGeom>
          <a:noFill/>
        </p:spPr>
        <p:txBody>
          <a:bodyPr wrap="square" lIns="0" tIns="0" rIns="0" bIns="0" anchor="ctr">
            <a:spAutoFit/>
          </a:bodyPr>
          <a:lstStyle/>
          <a:p>
            <a:pPr algn="l">
              <a:lnSpc>
                <a:spcPct val="115000"/>
              </a:lnSpc>
              <a:spcBef>
                <a:spcPts val="0"/>
              </a:spcBef>
              <a:spcAft>
                <a:spcPts val="0"/>
              </a:spcAft>
            </a:pPr>
            <a:r>
              <a:rPr sz="1000" b="1" i="0">
                <a:solidFill>
                  <a:srgbClr val="C678DD"/>
                </a:solidFill>
                <a:latin typeface="Segoe UI"/>
              </a:rPr>
              <a:t>Gleam</a:t>
            </a:r>
          </a:p>
        </p:txBody>
      </p:sp>
      <p:sp>
        <p:nvSpPr>
          <p:cNvPr id="12" name="Rounded Rectangle 11"/>
          <p:cNvSpPr/>
          <p:nvPr/>
        </p:nvSpPr>
        <p:spPr>
          <a:xfrm>
            <a:off x="658368" y="2208276"/>
            <a:ext cx="5120640" cy="306324"/>
          </a:xfrm>
          <a:prstGeom prst="roundRect">
            <a:avLst>
              <a:gd name="adj" fmla="val 10000"/>
            </a:avLst>
          </a:prstGeom>
          <a:solidFill>
            <a:srgbClr val="282C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4672" y="2208276"/>
            <a:ext cx="2514600" cy="306324"/>
          </a:xfrm>
          <a:prstGeom prst="rect">
            <a:avLst/>
          </a:prstGeom>
          <a:noFill/>
        </p:spPr>
        <p:txBody>
          <a:bodyPr wrap="square" lIns="0" tIns="0" rIns="0" bIns="0" anchor="ctr">
            <a:spAutoFit/>
          </a:bodyPr>
          <a:lstStyle/>
          <a:p>
            <a:pPr algn="l">
              <a:lnSpc>
                <a:spcPct val="115000"/>
              </a:lnSpc>
              <a:spcBef>
                <a:spcPts val="0"/>
              </a:spcBef>
              <a:spcAft>
                <a:spcPts val="0"/>
              </a:spcAft>
            </a:pPr>
            <a:r>
              <a:rPr sz="1150" b="0" i="0">
                <a:solidFill>
                  <a:srgbClr val="98C379"/>
                </a:solidFill>
                <a:latin typeface="Consolas"/>
              </a:rPr>
              <a:t>pille_pues</a:t>
            </a:r>
          </a:p>
        </p:txBody>
      </p:sp>
      <p:sp>
        <p:nvSpPr>
          <p:cNvPr id="14" name="TextBox 13"/>
          <p:cNvSpPr txBox="1"/>
          <p:nvPr/>
        </p:nvSpPr>
        <p:spPr>
          <a:xfrm>
            <a:off x="3319272" y="2208276"/>
            <a:ext cx="1371600" cy="306324"/>
          </a:xfrm>
          <a:prstGeom prst="rect">
            <a:avLst/>
          </a:prstGeom>
          <a:noFill/>
        </p:spPr>
        <p:txBody>
          <a:bodyPr wrap="square" lIns="0" tIns="0" rIns="0" bIns="0" anchor="ctr">
            <a:spAutoFit/>
          </a:bodyPr>
          <a:lstStyle/>
          <a:p>
            <a:pPr algn="l">
              <a:lnSpc>
                <a:spcPct val="115000"/>
              </a:lnSpc>
              <a:spcBef>
                <a:spcPts val="0"/>
              </a:spcBef>
              <a:spcAft>
                <a:spcPts val="0"/>
              </a:spcAft>
            </a:pPr>
            <a:r>
              <a:rPr sz="1150" b="0" i="0">
                <a:solidFill>
                  <a:srgbClr val="DCDFE4"/>
                </a:solidFill>
                <a:latin typeface="Segoe UI"/>
              </a:rPr>
              <a:t>let / var</a:t>
            </a:r>
          </a:p>
        </p:txBody>
      </p:sp>
      <p:sp>
        <p:nvSpPr>
          <p:cNvPr id="15" name="TextBox 14"/>
          <p:cNvSpPr txBox="1"/>
          <p:nvPr/>
        </p:nvSpPr>
        <p:spPr>
          <a:xfrm>
            <a:off x="4690872" y="2208276"/>
            <a:ext cx="1371600" cy="306324"/>
          </a:xfrm>
          <a:prstGeom prst="rect">
            <a:avLst/>
          </a:prstGeom>
          <a:noFill/>
        </p:spPr>
        <p:txBody>
          <a:bodyPr wrap="square" lIns="0" tIns="0" rIns="0" bIns="0" anchor="ctr">
            <a:spAutoFit/>
          </a:bodyPr>
          <a:lstStyle/>
          <a:p>
            <a:pPr algn="l">
              <a:lnSpc>
                <a:spcPct val="115000"/>
              </a:lnSpc>
              <a:spcBef>
                <a:spcPts val="0"/>
              </a:spcBef>
              <a:spcAft>
                <a:spcPts val="0"/>
              </a:spcAft>
            </a:pPr>
            <a:r>
              <a:rPr sz="1150" b="0" i="0">
                <a:solidFill>
                  <a:srgbClr val="9AA2B1"/>
                </a:solidFill>
                <a:latin typeface="Segoe UI"/>
              </a:rPr>
              <a:t>let</a:t>
            </a:r>
          </a:p>
        </p:txBody>
      </p:sp>
      <p:sp>
        <p:nvSpPr>
          <p:cNvPr id="16" name="TextBox 15"/>
          <p:cNvSpPr txBox="1"/>
          <p:nvPr/>
        </p:nvSpPr>
        <p:spPr>
          <a:xfrm>
            <a:off x="804672" y="2514600"/>
            <a:ext cx="2514600" cy="306324"/>
          </a:xfrm>
          <a:prstGeom prst="rect">
            <a:avLst/>
          </a:prstGeom>
          <a:noFill/>
        </p:spPr>
        <p:txBody>
          <a:bodyPr wrap="square" lIns="0" tIns="0" rIns="0" bIns="0" anchor="ctr">
            <a:spAutoFit/>
          </a:bodyPr>
          <a:lstStyle/>
          <a:p>
            <a:pPr algn="l">
              <a:lnSpc>
                <a:spcPct val="115000"/>
              </a:lnSpc>
              <a:spcBef>
                <a:spcPts val="0"/>
              </a:spcBef>
              <a:spcAft>
                <a:spcPts val="0"/>
              </a:spcAft>
            </a:pPr>
            <a:r>
              <a:rPr sz="1150" b="0" i="0">
                <a:solidFill>
                  <a:srgbClr val="98C379"/>
                </a:solidFill>
                <a:latin typeface="Consolas"/>
              </a:rPr>
              <a:t>hable_pues</a:t>
            </a:r>
          </a:p>
        </p:txBody>
      </p:sp>
      <p:sp>
        <p:nvSpPr>
          <p:cNvPr id="17" name="TextBox 16"/>
          <p:cNvSpPr txBox="1"/>
          <p:nvPr/>
        </p:nvSpPr>
        <p:spPr>
          <a:xfrm>
            <a:off x="3319272" y="2514600"/>
            <a:ext cx="1371600" cy="306324"/>
          </a:xfrm>
          <a:prstGeom prst="rect">
            <a:avLst/>
          </a:prstGeom>
          <a:noFill/>
        </p:spPr>
        <p:txBody>
          <a:bodyPr wrap="square" lIns="0" tIns="0" rIns="0" bIns="0" anchor="ctr">
            <a:spAutoFit/>
          </a:bodyPr>
          <a:lstStyle/>
          <a:p>
            <a:pPr algn="l">
              <a:lnSpc>
                <a:spcPct val="115000"/>
              </a:lnSpc>
              <a:spcBef>
                <a:spcPts val="0"/>
              </a:spcBef>
              <a:spcAft>
                <a:spcPts val="0"/>
              </a:spcAft>
            </a:pPr>
            <a:r>
              <a:rPr sz="1150" b="0" i="0">
                <a:solidFill>
                  <a:srgbClr val="DCDFE4"/>
                </a:solidFill>
                <a:latin typeface="Segoe UI"/>
              </a:rPr>
              <a:t>print</a:t>
            </a:r>
          </a:p>
        </p:txBody>
      </p:sp>
      <p:sp>
        <p:nvSpPr>
          <p:cNvPr id="18" name="TextBox 17"/>
          <p:cNvSpPr txBox="1"/>
          <p:nvPr/>
        </p:nvSpPr>
        <p:spPr>
          <a:xfrm>
            <a:off x="4690872" y="2514600"/>
            <a:ext cx="1371600" cy="306324"/>
          </a:xfrm>
          <a:prstGeom prst="rect">
            <a:avLst/>
          </a:prstGeom>
          <a:noFill/>
        </p:spPr>
        <p:txBody>
          <a:bodyPr wrap="square" lIns="0" tIns="0" rIns="0" bIns="0" anchor="ctr">
            <a:spAutoFit/>
          </a:bodyPr>
          <a:lstStyle/>
          <a:p>
            <a:pPr algn="l">
              <a:lnSpc>
                <a:spcPct val="115000"/>
              </a:lnSpc>
              <a:spcBef>
                <a:spcPts val="0"/>
              </a:spcBef>
              <a:spcAft>
                <a:spcPts val="0"/>
              </a:spcAft>
            </a:pPr>
            <a:r>
              <a:rPr sz="1150" b="0" i="0">
                <a:solidFill>
                  <a:srgbClr val="9AA2B1"/>
                </a:solidFill>
                <a:latin typeface="Segoe UI"/>
              </a:rPr>
              <a:t>io.println</a:t>
            </a:r>
          </a:p>
        </p:txBody>
      </p:sp>
      <p:sp>
        <p:nvSpPr>
          <p:cNvPr id="19" name="Rounded Rectangle 18"/>
          <p:cNvSpPr/>
          <p:nvPr/>
        </p:nvSpPr>
        <p:spPr>
          <a:xfrm>
            <a:off x="658368" y="2820924"/>
            <a:ext cx="5120640" cy="306324"/>
          </a:xfrm>
          <a:prstGeom prst="roundRect">
            <a:avLst>
              <a:gd name="adj" fmla="val 10000"/>
            </a:avLst>
          </a:prstGeom>
          <a:solidFill>
            <a:srgbClr val="282C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04672" y="2820924"/>
            <a:ext cx="2514600" cy="306324"/>
          </a:xfrm>
          <a:prstGeom prst="rect">
            <a:avLst/>
          </a:prstGeom>
          <a:noFill/>
        </p:spPr>
        <p:txBody>
          <a:bodyPr wrap="square" lIns="0" tIns="0" rIns="0" bIns="0" anchor="ctr">
            <a:spAutoFit/>
          </a:bodyPr>
          <a:lstStyle/>
          <a:p>
            <a:pPr algn="l">
              <a:lnSpc>
                <a:spcPct val="115000"/>
              </a:lnSpc>
              <a:spcBef>
                <a:spcPts val="0"/>
              </a:spcBef>
              <a:spcAft>
                <a:spcPts val="0"/>
              </a:spcAft>
            </a:pPr>
            <a:r>
              <a:rPr sz="1150" b="0" i="0">
                <a:solidFill>
                  <a:srgbClr val="98C379"/>
                </a:solidFill>
                <a:latin typeface="Consolas"/>
              </a:rPr>
              <a:t>hagale_pues … ya_quedo</a:t>
            </a:r>
          </a:p>
        </p:txBody>
      </p:sp>
      <p:sp>
        <p:nvSpPr>
          <p:cNvPr id="21" name="TextBox 20"/>
          <p:cNvSpPr txBox="1"/>
          <p:nvPr/>
        </p:nvSpPr>
        <p:spPr>
          <a:xfrm>
            <a:off x="3319272" y="2820924"/>
            <a:ext cx="1371600" cy="306324"/>
          </a:xfrm>
          <a:prstGeom prst="rect">
            <a:avLst/>
          </a:prstGeom>
          <a:noFill/>
        </p:spPr>
        <p:txBody>
          <a:bodyPr wrap="square" lIns="0" tIns="0" rIns="0" bIns="0" anchor="ctr">
            <a:spAutoFit/>
          </a:bodyPr>
          <a:lstStyle/>
          <a:p>
            <a:pPr algn="l">
              <a:lnSpc>
                <a:spcPct val="115000"/>
              </a:lnSpc>
              <a:spcBef>
                <a:spcPts val="0"/>
              </a:spcBef>
              <a:spcAft>
                <a:spcPts val="0"/>
              </a:spcAft>
            </a:pPr>
            <a:r>
              <a:rPr sz="1150" b="0" i="0">
                <a:solidFill>
                  <a:srgbClr val="DCDFE4"/>
                </a:solidFill>
                <a:latin typeface="Segoe UI"/>
              </a:rPr>
              <a:t>función</a:t>
            </a:r>
          </a:p>
        </p:txBody>
      </p:sp>
      <p:sp>
        <p:nvSpPr>
          <p:cNvPr id="22" name="TextBox 21"/>
          <p:cNvSpPr txBox="1"/>
          <p:nvPr/>
        </p:nvSpPr>
        <p:spPr>
          <a:xfrm>
            <a:off x="4690872" y="2820924"/>
            <a:ext cx="1371600" cy="306324"/>
          </a:xfrm>
          <a:prstGeom prst="rect">
            <a:avLst/>
          </a:prstGeom>
          <a:noFill/>
        </p:spPr>
        <p:txBody>
          <a:bodyPr wrap="square" lIns="0" tIns="0" rIns="0" bIns="0" anchor="ctr">
            <a:spAutoFit/>
          </a:bodyPr>
          <a:lstStyle/>
          <a:p>
            <a:pPr algn="l">
              <a:lnSpc>
                <a:spcPct val="115000"/>
              </a:lnSpc>
              <a:spcBef>
                <a:spcPts val="0"/>
              </a:spcBef>
              <a:spcAft>
                <a:spcPts val="0"/>
              </a:spcAft>
            </a:pPr>
            <a:r>
              <a:rPr sz="1150" b="0" i="0">
                <a:solidFill>
                  <a:srgbClr val="9AA2B1"/>
                </a:solidFill>
                <a:latin typeface="Segoe UI"/>
              </a:rPr>
              <a:t>pub fn { }</a:t>
            </a:r>
          </a:p>
        </p:txBody>
      </p:sp>
      <p:sp>
        <p:nvSpPr>
          <p:cNvPr id="23" name="TextBox 22"/>
          <p:cNvSpPr txBox="1"/>
          <p:nvPr/>
        </p:nvSpPr>
        <p:spPr>
          <a:xfrm>
            <a:off x="804672" y="3127248"/>
            <a:ext cx="2514600" cy="306324"/>
          </a:xfrm>
          <a:prstGeom prst="rect">
            <a:avLst/>
          </a:prstGeom>
          <a:noFill/>
        </p:spPr>
        <p:txBody>
          <a:bodyPr wrap="square" lIns="0" tIns="0" rIns="0" bIns="0" anchor="ctr">
            <a:spAutoFit/>
          </a:bodyPr>
          <a:lstStyle/>
          <a:p>
            <a:pPr algn="l">
              <a:lnSpc>
                <a:spcPct val="115000"/>
              </a:lnSpc>
              <a:spcBef>
                <a:spcPts val="0"/>
              </a:spcBef>
              <a:spcAft>
                <a:spcPts val="0"/>
              </a:spcAft>
            </a:pPr>
            <a:r>
              <a:rPr sz="1150" b="0" i="0">
                <a:solidFill>
                  <a:srgbClr val="98C379"/>
                </a:solidFill>
                <a:latin typeface="Consolas"/>
              </a:rPr>
              <a:t>si_acaso … asi_quedo</a:t>
            </a:r>
          </a:p>
        </p:txBody>
      </p:sp>
      <p:sp>
        <p:nvSpPr>
          <p:cNvPr id="24" name="TextBox 23"/>
          <p:cNvSpPr txBox="1"/>
          <p:nvPr/>
        </p:nvSpPr>
        <p:spPr>
          <a:xfrm>
            <a:off x="3319272" y="3127248"/>
            <a:ext cx="1371600" cy="306324"/>
          </a:xfrm>
          <a:prstGeom prst="rect">
            <a:avLst/>
          </a:prstGeom>
          <a:noFill/>
        </p:spPr>
        <p:txBody>
          <a:bodyPr wrap="square" lIns="0" tIns="0" rIns="0" bIns="0" anchor="ctr">
            <a:spAutoFit/>
          </a:bodyPr>
          <a:lstStyle/>
          <a:p>
            <a:pPr algn="l">
              <a:lnSpc>
                <a:spcPct val="115000"/>
              </a:lnSpc>
              <a:spcBef>
                <a:spcPts val="0"/>
              </a:spcBef>
              <a:spcAft>
                <a:spcPts val="0"/>
              </a:spcAft>
            </a:pPr>
            <a:r>
              <a:rPr sz="1150" b="0" i="0">
                <a:solidFill>
                  <a:srgbClr val="DCDFE4"/>
                </a:solidFill>
                <a:latin typeface="Segoe UI"/>
              </a:rPr>
              <a:t>if / else</a:t>
            </a:r>
          </a:p>
        </p:txBody>
      </p:sp>
      <p:sp>
        <p:nvSpPr>
          <p:cNvPr id="25" name="TextBox 24"/>
          <p:cNvSpPr txBox="1"/>
          <p:nvPr/>
        </p:nvSpPr>
        <p:spPr>
          <a:xfrm>
            <a:off x="4690872" y="3127248"/>
            <a:ext cx="1371600" cy="306324"/>
          </a:xfrm>
          <a:prstGeom prst="rect">
            <a:avLst/>
          </a:prstGeom>
          <a:noFill/>
        </p:spPr>
        <p:txBody>
          <a:bodyPr wrap="square" lIns="0" tIns="0" rIns="0" bIns="0" anchor="ctr">
            <a:spAutoFit/>
          </a:bodyPr>
          <a:lstStyle/>
          <a:p>
            <a:pPr algn="l">
              <a:lnSpc>
                <a:spcPct val="115000"/>
              </a:lnSpc>
              <a:spcBef>
                <a:spcPts val="0"/>
              </a:spcBef>
              <a:spcAft>
                <a:spcPts val="0"/>
              </a:spcAft>
            </a:pPr>
            <a:r>
              <a:rPr sz="1150" b="0" i="0">
                <a:solidFill>
                  <a:srgbClr val="9AA2B1"/>
                </a:solidFill>
                <a:latin typeface="Segoe UI"/>
              </a:rPr>
              <a:t>case</a:t>
            </a:r>
          </a:p>
        </p:txBody>
      </p:sp>
      <p:sp>
        <p:nvSpPr>
          <p:cNvPr id="26" name="Rounded Rectangle 25"/>
          <p:cNvSpPr/>
          <p:nvPr/>
        </p:nvSpPr>
        <p:spPr>
          <a:xfrm>
            <a:off x="658368" y="3433572"/>
            <a:ext cx="5120640" cy="306324"/>
          </a:xfrm>
          <a:prstGeom prst="roundRect">
            <a:avLst>
              <a:gd name="adj" fmla="val 10000"/>
            </a:avLst>
          </a:prstGeom>
          <a:solidFill>
            <a:srgbClr val="282C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04672" y="3433572"/>
            <a:ext cx="2514600" cy="306324"/>
          </a:xfrm>
          <a:prstGeom prst="rect">
            <a:avLst/>
          </a:prstGeom>
          <a:noFill/>
        </p:spPr>
        <p:txBody>
          <a:bodyPr wrap="square" lIns="0" tIns="0" rIns="0" bIns="0" anchor="ctr">
            <a:spAutoFit/>
          </a:bodyPr>
          <a:lstStyle/>
          <a:p>
            <a:pPr algn="l">
              <a:lnSpc>
                <a:spcPct val="115000"/>
              </a:lnSpc>
              <a:spcBef>
                <a:spcPts val="0"/>
              </a:spcBef>
              <a:spcAft>
                <a:spcPts val="0"/>
              </a:spcAft>
            </a:pPr>
            <a:r>
              <a:rPr sz="1150" b="0" i="0">
                <a:solidFill>
                  <a:srgbClr val="98C379"/>
                </a:solidFill>
                <a:latin typeface="Consolas"/>
              </a:rPr>
              <a:t>mientras_que … hasta_ahi</a:t>
            </a:r>
          </a:p>
        </p:txBody>
      </p:sp>
      <p:sp>
        <p:nvSpPr>
          <p:cNvPr id="28" name="TextBox 27"/>
          <p:cNvSpPr txBox="1"/>
          <p:nvPr/>
        </p:nvSpPr>
        <p:spPr>
          <a:xfrm>
            <a:off x="3319272" y="3433572"/>
            <a:ext cx="1371600" cy="306324"/>
          </a:xfrm>
          <a:prstGeom prst="rect">
            <a:avLst/>
          </a:prstGeom>
          <a:noFill/>
        </p:spPr>
        <p:txBody>
          <a:bodyPr wrap="square" lIns="0" tIns="0" rIns="0" bIns="0" anchor="ctr">
            <a:spAutoFit/>
          </a:bodyPr>
          <a:lstStyle/>
          <a:p>
            <a:pPr algn="l">
              <a:lnSpc>
                <a:spcPct val="115000"/>
              </a:lnSpc>
              <a:spcBef>
                <a:spcPts val="0"/>
              </a:spcBef>
              <a:spcAft>
                <a:spcPts val="0"/>
              </a:spcAft>
            </a:pPr>
            <a:r>
              <a:rPr sz="1150" b="0" i="0">
                <a:solidFill>
                  <a:srgbClr val="DCDFE4"/>
                </a:solidFill>
                <a:latin typeface="Segoe UI"/>
              </a:rPr>
              <a:t>while</a:t>
            </a:r>
          </a:p>
        </p:txBody>
      </p:sp>
      <p:sp>
        <p:nvSpPr>
          <p:cNvPr id="29" name="TextBox 28"/>
          <p:cNvSpPr txBox="1"/>
          <p:nvPr/>
        </p:nvSpPr>
        <p:spPr>
          <a:xfrm>
            <a:off x="4690872" y="3433572"/>
            <a:ext cx="1371600" cy="306324"/>
          </a:xfrm>
          <a:prstGeom prst="rect">
            <a:avLst/>
          </a:prstGeom>
          <a:noFill/>
        </p:spPr>
        <p:txBody>
          <a:bodyPr wrap="square" lIns="0" tIns="0" rIns="0" bIns="0" anchor="ctr">
            <a:spAutoFit/>
          </a:bodyPr>
          <a:lstStyle/>
          <a:p>
            <a:pPr algn="l">
              <a:lnSpc>
                <a:spcPct val="115000"/>
              </a:lnSpc>
              <a:spcBef>
                <a:spcPts val="0"/>
              </a:spcBef>
              <a:spcAft>
                <a:spcPts val="0"/>
              </a:spcAft>
            </a:pPr>
            <a:r>
              <a:rPr sz="1150" b="0" i="0">
                <a:solidFill>
                  <a:srgbClr val="9AA2B1"/>
                </a:solidFill>
                <a:latin typeface="Segoe UI"/>
              </a:rPr>
              <a:t>recursión de cola</a:t>
            </a:r>
          </a:p>
        </p:txBody>
      </p:sp>
      <p:sp>
        <p:nvSpPr>
          <p:cNvPr id="30" name="TextBox 29"/>
          <p:cNvSpPr txBox="1"/>
          <p:nvPr/>
        </p:nvSpPr>
        <p:spPr>
          <a:xfrm>
            <a:off x="804672" y="3739896"/>
            <a:ext cx="2514600" cy="306324"/>
          </a:xfrm>
          <a:prstGeom prst="rect">
            <a:avLst/>
          </a:prstGeom>
          <a:noFill/>
        </p:spPr>
        <p:txBody>
          <a:bodyPr wrap="square" lIns="0" tIns="0" rIns="0" bIns="0" anchor="ctr">
            <a:spAutoFit/>
          </a:bodyPr>
          <a:lstStyle/>
          <a:p>
            <a:pPr algn="l">
              <a:lnSpc>
                <a:spcPct val="115000"/>
              </a:lnSpc>
              <a:spcBef>
                <a:spcPts val="0"/>
              </a:spcBef>
              <a:spcAft>
                <a:spcPts val="0"/>
              </a:spcAft>
            </a:pPr>
            <a:r>
              <a:rPr sz="1150" b="0" i="0">
                <a:solidFill>
                  <a:srgbClr val="98C379"/>
                </a:solidFill>
                <a:latin typeface="Consolas"/>
              </a:rPr>
              <a:t>pa_cada … listo_pues</a:t>
            </a:r>
          </a:p>
        </p:txBody>
      </p:sp>
      <p:sp>
        <p:nvSpPr>
          <p:cNvPr id="31" name="TextBox 30"/>
          <p:cNvSpPr txBox="1"/>
          <p:nvPr/>
        </p:nvSpPr>
        <p:spPr>
          <a:xfrm>
            <a:off x="3319272" y="3739896"/>
            <a:ext cx="1371600" cy="306324"/>
          </a:xfrm>
          <a:prstGeom prst="rect">
            <a:avLst/>
          </a:prstGeom>
          <a:noFill/>
        </p:spPr>
        <p:txBody>
          <a:bodyPr wrap="square" lIns="0" tIns="0" rIns="0" bIns="0" anchor="ctr">
            <a:spAutoFit/>
          </a:bodyPr>
          <a:lstStyle/>
          <a:p>
            <a:pPr algn="l">
              <a:lnSpc>
                <a:spcPct val="115000"/>
              </a:lnSpc>
              <a:spcBef>
                <a:spcPts val="0"/>
              </a:spcBef>
              <a:spcAft>
                <a:spcPts val="0"/>
              </a:spcAft>
            </a:pPr>
            <a:r>
              <a:rPr sz="1150" b="0" i="0">
                <a:solidFill>
                  <a:srgbClr val="DCDFE4"/>
                </a:solidFill>
                <a:latin typeface="Segoe UI"/>
              </a:rPr>
              <a:t>for</a:t>
            </a:r>
          </a:p>
        </p:txBody>
      </p:sp>
      <p:sp>
        <p:nvSpPr>
          <p:cNvPr id="32" name="TextBox 31"/>
          <p:cNvSpPr txBox="1"/>
          <p:nvPr/>
        </p:nvSpPr>
        <p:spPr>
          <a:xfrm>
            <a:off x="4690872" y="3739896"/>
            <a:ext cx="1371600" cy="306324"/>
          </a:xfrm>
          <a:prstGeom prst="rect">
            <a:avLst/>
          </a:prstGeom>
          <a:noFill/>
        </p:spPr>
        <p:txBody>
          <a:bodyPr wrap="square" lIns="0" tIns="0" rIns="0" bIns="0" anchor="ctr">
            <a:spAutoFit/>
          </a:bodyPr>
          <a:lstStyle/>
          <a:p>
            <a:pPr algn="l">
              <a:lnSpc>
                <a:spcPct val="115000"/>
              </a:lnSpc>
              <a:spcBef>
                <a:spcPts val="0"/>
              </a:spcBef>
              <a:spcAft>
                <a:spcPts val="0"/>
              </a:spcAft>
            </a:pPr>
            <a:r>
              <a:rPr sz="1150" b="0" i="0">
                <a:solidFill>
                  <a:srgbClr val="9AA2B1"/>
                </a:solidFill>
                <a:latin typeface="Segoe UI"/>
              </a:rPr>
              <a:t>list.range</a:t>
            </a:r>
          </a:p>
        </p:txBody>
      </p:sp>
      <p:sp>
        <p:nvSpPr>
          <p:cNvPr id="33" name="Rounded Rectangle 32"/>
          <p:cNvSpPr/>
          <p:nvPr/>
        </p:nvSpPr>
        <p:spPr>
          <a:xfrm>
            <a:off x="658368" y="4046220"/>
            <a:ext cx="5120640" cy="306324"/>
          </a:xfrm>
          <a:prstGeom prst="roundRect">
            <a:avLst>
              <a:gd name="adj" fmla="val 10000"/>
            </a:avLst>
          </a:prstGeom>
          <a:solidFill>
            <a:srgbClr val="282C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04672" y="4046220"/>
            <a:ext cx="2514600" cy="306324"/>
          </a:xfrm>
          <a:prstGeom prst="rect">
            <a:avLst/>
          </a:prstGeom>
          <a:noFill/>
        </p:spPr>
        <p:txBody>
          <a:bodyPr wrap="square" lIns="0" tIns="0" rIns="0" bIns="0" anchor="ctr">
            <a:spAutoFit/>
          </a:bodyPr>
          <a:lstStyle/>
          <a:p>
            <a:pPr algn="l">
              <a:lnSpc>
                <a:spcPct val="115000"/>
              </a:lnSpc>
              <a:spcBef>
                <a:spcPts val="0"/>
              </a:spcBef>
              <a:spcAft>
                <a:spcPts val="0"/>
              </a:spcAft>
            </a:pPr>
            <a:r>
              <a:rPr sz="1150" b="0" i="0">
                <a:solidFill>
                  <a:srgbClr val="98C379"/>
                </a:solidFill>
                <a:latin typeface="Consolas"/>
              </a:rPr>
              <a:t>sizas / naranjas</a:t>
            </a:r>
          </a:p>
        </p:txBody>
      </p:sp>
      <p:sp>
        <p:nvSpPr>
          <p:cNvPr id="35" name="TextBox 34"/>
          <p:cNvSpPr txBox="1"/>
          <p:nvPr/>
        </p:nvSpPr>
        <p:spPr>
          <a:xfrm>
            <a:off x="3319272" y="4046220"/>
            <a:ext cx="1371600" cy="306324"/>
          </a:xfrm>
          <a:prstGeom prst="rect">
            <a:avLst/>
          </a:prstGeom>
          <a:noFill/>
        </p:spPr>
        <p:txBody>
          <a:bodyPr wrap="square" lIns="0" tIns="0" rIns="0" bIns="0" anchor="ctr">
            <a:spAutoFit/>
          </a:bodyPr>
          <a:lstStyle/>
          <a:p>
            <a:pPr algn="l">
              <a:lnSpc>
                <a:spcPct val="115000"/>
              </a:lnSpc>
              <a:spcBef>
                <a:spcPts val="0"/>
              </a:spcBef>
              <a:spcAft>
                <a:spcPts val="0"/>
              </a:spcAft>
            </a:pPr>
            <a:r>
              <a:rPr sz="1150" b="0" i="0">
                <a:solidFill>
                  <a:srgbClr val="DCDFE4"/>
                </a:solidFill>
                <a:latin typeface="Segoe UI"/>
              </a:rPr>
              <a:t>true / false</a:t>
            </a:r>
          </a:p>
        </p:txBody>
      </p:sp>
      <p:sp>
        <p:nvSpPr>
          <p:cNvPr id="36" name="TextBox 35"/>
          <p:cNvSpPr txBox="1"/>
          <p:nvPr/>
        </p:nvSpPr>
        <p:spPr>
          <a:xfrm>
            <a:off x="4690872" y="4046220"/>
            <a:ext cx="1371600" cy="306324"/>
          </a:xfrm>
          <a:prstGeom prst="rect">
            <a:avLst/>
          </a:prstGeom>
          <a:noFill/>
        </p:spPr>
        <p:txBody>
          <a:bodyPr wrap="square" lIns="0" tIns="0" rIns="0" bIns="0" anchor="ctr">
            <a:spAutoFit/>
          </a:bodyPr>
          <a:lstStyle/>
          <a:p>
            <a:pPr algn="l">
              <a:lnSpc>
                <a:spcPct val="115000"/>
              </a:lnSpc>
              <a:spcBef>
                <a:spcPts val="0"/>
              </a:spcBef>
              <a:spcAft>
                <a:spcPts val="0"/>
              </a:spcAft>
            </a:pPr>
            <a:r>
              <a:rPr sz="1150" b="0" i="0">
                <a:solidFill>
                  <a:srgbClr val="9AA2B1"/>
                </a:solidFill>
                <a:latin typeface="Segoe UI"/>
              </a:rPr>
              <a:t>True / False</a:t>
            </a:r>
          </a:p>
        </p:txBody>
      </p:sp>
      <p:sp>
        <p:nvSpPr>
          <p:cNvPr id="37" name="TextBox 36"/>
          <p:cNvSpPr txBox="1"/>
          <p:nvPr/>
        </p:nvSpPr>
        <p:spPr>
          <a:xfrm>
            <a:off x="6172200" y="1572768"/>
            <a:ext cx="5394960" cy="177934"/>
          </a:xfrm>
          <a:prstGeom prst="rect">
            <a:avLst/>
          </a:prstGeom>
          <a:noFill/>
        </p:spPr>
        <p:txBody>
          <a:bodyPr wrap="square" lIns="0" tIns="0" rIns="0" bIns="0" anchor="t">
            <a:spAutoFit/>
          </a:bodyPr>
          <a:lstStyle/>
          <a:p>
            <a:pPr algn="l">
              <a:lnSpc>
                <a:spcPct val="115000"/>
              </a:lnSpc>
              <a:spcBef>
                <a:spcPts val="0"/>
              </a:spcBef>
              <a:spcAft>
                <a:spcPts val="800"/>
              </a:spcAft>
            </a:pPr>
            <a:r>
              <a:rPr sz="1100" b="1" i="0" dirty="0">
                <a:solidFill>
                  <a:srgbClr val="C678DD"/>
                </a:solidFill>
                <a:latin typeface="Segoe UI"/>
              </a:rPr>
              <a:t>LAS TRES CONDICIONES</a:t>
            </a:r>
          </a:p>
        </p:txBody>
      </p:sp>
      <p:sp>
        <p:nvSpPr>
          <p:cNvPr id="38" name="TextBox 37"/>
          <p:cNvSpPr txBox="1"/>
          <p:nvPr/>
        </p:nvSpPr>
        <p:spPr>
          <a:xfrm>
            <a:off x="6172200" y="1901952"/>
            <a:ext cx="5349240" cy="1645920"/>
          </a:xfrm>
          <a:prstGeom prst="rect">
            <a:avLst/>
          </a:prstGeom>
          <a:noFill/>
        </p:spPr>
        <p:txBody>
          <a:bodyPr wrap="square" lIns="0" tIns="0" rIns="0" bIns="0" anchor="t">
            <a:spAutoFit/>
          </a:bodyPr>
          <a:lstStyle/>
          <a:p>
            <a:pPr algn="l">
              <a:lnSpc>
                <a:spcPct val="115000"/>
              </a:lnSpc>
              <a:spcBef>
                <a:spcPts val="0"/>
              </a:spcBef>
              <a:spcAft>
                <a:spcPts val="1000"/>
              </a:spcAft>
            </a:pPr>
            <a:r>
              <a:rPr sz="1400" b="1">
                <a:solidFill>
                  <a:srgbClr val="C678DD"/>
                </a:solidFill>
                <a:latin typeface="Segoe UI"/>
              </a:rPr>
              <a:t>1.  </a:t>
            </a:r>
            <a:r>
              <a:rPr sz="1400" b="1">
                <a:solidFill>
                  <a:srgbClr val="DCDFE4"/>
                </a:solidFill>
                <a:latin typeface="Segoe UI"/>
              </a:rPr>
              <a:t>Sin recursividad izquierda</a:t>
            </a:r>
            <a:r>
              <a:rPr sz="1400" b="0">
                <a:solidFill>
                  <a:srgbClr val="9AA2B1"/>
                </a:solidFill>
                <a:latin typeface="Segoe UI"/>
              </a:rPr>
              <a:t>   ninguna regla A ::= A α</a:t>
            </a:r>
          </a:p>
          <a:p>
            <a:pPr algn="l">
              <a:lnSpc>
                <a:spcPct val="115000"/>
              </a:lnSpc>
              <a:spcBef>
                <a:spcPts val="0"/>
              </a:spcBef>
              <a:spcAft>
                <a:spcPts val="1000"/>
              </a:spcAft>
            </a:pPr>
            <a:r>
              <a:rPr sz="1400" b="1">
                <a:solidFill>
                  <a:srgbClr val="C678DD"/>
                </a:solidFill>
                <a:latin typeface="Segoe UI"/>
              </a:rPr>
              <a:t>2.  </a:t>
            </a:r>
            <a:r>
              <a:rPr sz="1400" b="1">
                <a:solidFill>
                  <a:srgbClr val="DCDFE4"/>
                </a:solidFill>
                <a:latin typeface="Segoe UI"/>
              </a:rPr>
              <a:t>Factorizada por la izquierda</a:t>
            </a:r>
            <a:r>
              <a:rPr sz="1400" b="0">
                <a:solidFill>
                  <a:srgbClr val="9AA2B1"/>
                </a:solidFill>
                <a:latin typeface="Segoe UI"/>
              </a:rPr>
              <a:t>   en un solo punto: &lt;sufijo_id&gt;</a:t>
            </a:r>
          </a:p>
          <a:p>
            <a:pPr algn="l">
              <a:lnSpc>
                <a:spcPct val="115000"/>
              </a:lnSpc>
              <a:spcBef>
                <a:spcPts val="0"/>
              </a:spcBef>
              <a:spcAft>
                <a:spcPts val="1000"/>
              </a:spcAft>
            </a:pPr>
            <a:r>
              <a:rPr sz="1400" b="1">
                <a:solidFill>
                  <a:srgbClr val="C678DD"/>
                </a:solidFill>
                <a:latin typeface="Segoe UI"/>
              </a:rPr>
              <a:t>3.  </a:t>
            </a:r>
            <a:r>
              <a:rPr sz="1400" b="1">
                <a:solidFill>
                  <a:srgbClr val="DCDFE4"/>
                </a:solidFill>
                <a:latin typeface="Segoe UI"/>
              </a:rPr>
              <a:t>Es LL(1)</a:t>
            </a:r>
            <a:r>
              <a:rPr sz="1400" b="0">
                <a:solidFill>
                  <a:srgbClr val="9AA2B1"/>
                </a:solidFill>
                <a:latin typeface="Segoe UI"/>
              </a:rPr>
              <a:t>   PRIMERO y SIGUIENTE disjuntos</a:t>
            </a:r>
          </a:p>
        </p:txBody>
      </p:sp>
      <p:sp>
        <p:nvSpPr>
          <p:cNvPr id="39" name="Rounded Rectangle 38"/>
          <p:cNvSpPr/>
          <p:nvPr/>
        </p:nvSpPr>
        <p:spPr>
          <a:xfrm>
            <a:off x="6172200" y="3401568"/>
            <a:ext cx="5349240" cy="2029968"/>
          </a:xfrm>
          <a:prstGeom prst="roundRect">
            <a:avLst>
              <a:gd name="adj" fmla="val 6000"/>
            </a:avLst>
          </a:prstGeom>
          <a:solidFill>
            <a:srgbClr val="282C34"/>
          </a:solidFill>
          <a:ln w="12700">
            <a:solidFill>
              <a:srgbClr val="3237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373368" y="3566160"/>
            <a:ext cx="4946904" cy="1755648"/>
          </a:xfrm>
          <a:prstGeom prst="rect">
            <a:avLst/>
          </a:prstGeom>
          <a:noFill/>
        </p:spPr>
        <p:txBody>
          <a:bodyPr wrap="square" lIns="0" tIns="0" rIns="0" bIns="0" anchor="t">
            <a:spAutoFit/>
          </a:bodyPr>
          <a:lstStyle/>
          <a:p>
            <a:pPr algn="l">
              <a:lnSpc>
                <a:spcPct val="105000"/>
              </a:lnSpc>
              <a:spcBef>
                <a:spcPts val="0"/>
              </a:spcBef>
              <a:spcAft>
                <a:spcPts val="300"/>
              </a:spcAft>
            </a:pPr>
            <a:r>
              <a:rPr sz="1200" b="0" i="0">
                <a:solidFill>
                  <a:srgbClr val="E06C75"/>
                </a:solidFill>
                <a:latin typeface="Consolas"/>
              </a:rPr>
              <a:t>ANTES  (mal: se llama a sí misma por la izquierda)</a:t>
            </a:r>
          </a:p>
          <a:p>
            <a:pPr algn="l">
              <a:lnSpc>
                <a:spcPct val="105000"/>
              </a:lnSpc>
              <a:spcBef>
                <a:spcPts val="0"/>
              </a:spcBef>
              <a:spcAft>
                <a:spcPts val="300"/>
              </a:spcAft>
            </a:pPr>
            <a:r>
              <a:rPr sz="1200" b="0" i="0">
                <a:solidFill>
                  <a:srgbClr val="E06C75"/>
                </a:solidFill>
                <a:latin typeface="Consolas"/>
              </a:rPr>
              <a:t>&lt;expresion&gt; ::= &lt;expresion&gt; "+" &lt;termino&gt;</a:t>
            </a:r>
          </a:p>
          <a:p>
            <a:pPr algn="l">
              <a:lnSpc>
                <a:spcPct val="105000"/>
              </a:lnSpc>
              <a:spcBef>
                <a:spcPts val="0"/>
              </a:spcBef>
              <a:spcAft>
                <a:spcPts val="300"/>
              </a:spcAft>
            </a:pPr>
            <a:endParaRPr sz="1200" b="0" i="0">
              <a:solidFill>
                <a:srgbClr val="E06C75"/>
              </a:solidFill>
              <a:latin typeface="Consolas"/>
            </a:endParaRPr>
          </a:p>
          <a:p>
            <a:pPr algn="l">
              <a:lnSpc>
                <a:spcPct val="105000"/>
              </a:lnSpc>
              <a:spcBef>
                <a:spcPts val="0"/>
              </a:spcBef>
              <a:spcAft>
                <a:spcPts val="300"/>
              </a:spcAft>
            </a:pPr>
            <a:r>
              <a:rPr sz="1200" b="0" i="0">
                <a:solidFill>
                  <a:srgbClr val="98C379"/>
                </a:solidFill>
                <a:latin typeface="Consolas"/>
              </a:rPr>
              <a:t>DESPUÉS (bien: la recursión queda a la derecha)</a:t>
            </a:r>
          </a:p>
          <a:p>
            <a:pPr algn="l">
              <a:lnSpc>
                <a:spcPct val="105000"/>
              </a:lnSpc>
              <a:spcBef>
                <a:spcPts val="0"/>
              </a:spcBef>
              <a:spcAft>
                <a:spcPts val="300"/>
              </a:spcAft>
            </a:pPr>
            <a:r>
              <a:rPr sz="1200" b="0" i="0">
                <a:solidFill>
                  <a:srgbClr val="98C379"/>
                </a:solidFill>
                <a:latin typeface="Consolas"/>
              </a:rPr>
              <a:t>&lt;expresion&gt;   ::= &lt;termino&gt; &lt;expresion_p&gt;</a:t>
            </a:r>
          </a:p>
          <a:p>
            <a:pPr algn="l">
              <a:lnSpc>
                <a:spcPct val="105000"/>
              </a:lnSpc>
              <a:spcBef>
                <a:spcPts val="0"/>
              </a:spcBef>
              <a:spcAft>
                <a:spcPts val="300"/>
              </a:spcAft>
            </a:pPr>
            <a:r>
              <a:rPr sz="1200" b="0" i="0">
                <a:solidFill>
                  <a:srgbClr val="98C379"/>
                </a:solidFill>
                <a:latin typeface="Consolas"/>
              </a:rPr>
              <a:t>&lt;expresion_p&gt; ::= "+" &lt;termino&gt; &lt;expresion_p&gt; | ε</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21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475488"/>
            <a:ext cx="50292" cy="841248"/>
          </a:xfrm>
          <a:prstGeom prst="rect">
            <a:avLst/>
          </a:prstGeom>
          <a:solidFill>
            <a:srgbClr val="61A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438912"/>
            <a:ext cx="7863840" cy="960120"/>
          </a:xfrm>
          <a:prstGeom prst="rect">
            <a:avLst/>
          </a:prstGeom>
          <a:noFill/>
        </p:spPr>
        <p:txBody>
          <a:bodyPr wrap="square" lIns="0" tIns="0" rIns="0" bIns="0" anchor="t">
            <a:spAutoFit/>
          </a:bodyPr>
          <a:lstStyle/>
          <a:p>
            <a:pPr algn="l">
              <a:lnSpc>
                <a:spcPct val="115000"/>
              </a:lnSpc>
              <a:spcBef>
                <a:spcPts val="0"/>
              </a:spcBef>
              <a:spcAft>
                <a:spcPts val="300"/>
              </a:spcAft>
            </a:pPr>
            <a:r>
              <a:rPr sz="1150" b="1" i="0">
                <a:solidFill>
                  <a:srgbClr val="61AFEF"/>
                </a:solidFill>
                <a:latin typeface="Segoe UI"/>
              </a:rPr>
              <a:t>2.1  EL ANALIZADOR LÉXICO</a:t>
            </a:r>
          </a:p>
          <a:p>
            <a:pPr algn="l">
              <a:lnSpc>
                <a:spcPct val="100000"/>
              </a:lnSpc>
              <a:spcBef>
                <a:spcPts val="0"/>
              </a:spcBef>
              <a:spcAft>
                <a:spcPts val="0"/>
              </a:spcAft>
            </a:pPr>
            <a:r>
              <a:rPr sz="2900" b="1" i="0">
                <a:solidFill>
                  <a:srgbClr val="DCDFE4"/>
                </a:solidFill>
                <a:latin typeface="Segoe UI"/>
              </a:rPr>
              <a:t>El orden de la tabla es la prioridad</a:t>
            </a:r>
          </a:p>
        </p:txBody>
      </p:sp>
      <p:sp>
        <p:nvSpPr>
          <p:cNvPr id="7" name="Rounded Rectangle 6"/>
          <p:cNvSpPr/>
          <p:nvPr/>
        </p:nvSpPr>
        <p:spPr>
          <a:xfrm>
            <a:off x="658368" y="1536192"/>
            <a:ext cx="5120640" cy="1938528"/>
          </a:xfrm>
          <a:prstGeom prst="roundRect">
            <a:avLst>
              <a:gd name="adj" fmla="val 8000"/>
            </a:avLst>
          </a:prstGeom>
          <a:solidFill>
            <a:srgbClr val="282C34"/>
          </a:solidFill>
          <a:ln w="12700">
            <a:solidFill>
              <a:srgbClr val="3237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96112" y="1737360"/>
            <a:ext cx="4645152" cy="1572768"/>
          </a:xfrm>
          <a:prstGeom prst="rect">
            <a:avLst/>
          </a:prstGeom>
          <a:noFill/>
        </p:spPr>
        <p:txBody>
          <a:bodyPr wrap="square" lIns="0" tIns="0" rIns="0" bIns="0" anchor="t">
            <a:spAutoFit/>
          </a:bodyPr>
          <a:lstStyle/>
          <a:p>
            <a:pPr algn="l">
              <a:lnSpc>
                <a:spcPct val="115000"/>
              </a:lnSpc>
              <a:spcBef>
                <a:spcPts val="0"/>
              </a:spcBef>
              <a:spcAft>
                <a:spcPts val="800"/>
              </a:spcAft>
            </a:pPr>
            <a:r>
              <a:rPr sz="1450" b="1" i="0">
                <a:solidFill>
                  <a:srgbClr val="61AFEF"/>
                </a:solidFill>
                <a:latin typeface="Segoe UI"/>
              </a:rPr>
              <a:t>QUÉ HACE Y QUÉ NO HACE</a:t>
            </a:r>
          </a:p>
          <a:p>
            <a:pPr algn="l">
              <a:lnSpc>
                <a:spcPct val="120000"/>
              </a:lnSpc>
              <a:spcBef>
                <a:spcPts val="0"/>
              </a:spcBef>
              <a:spcAft>
                <a:spcPts val="500"/>
              </a:spcAft>
            </a:pPr>
            <a:r>
              <a:rPr sz="1300" b="0" i="0">
                <a:solidFill>
                  <a:srgbClr val="DCDFE4"/>
                </a:solidFill>
                <a:latin typeface="Segoe UI"/>
              </a:rPr>
              <a:t>Parte el texto plano en tokens y guarda de cada</a:t>
            </a:r>
          </a:p>
          <a:p>
            <a:pPr algn="l">
              <a:lnSpc>
                <a:spcPct val="120000"/>
              </a:lnSpc>
              <a:spcBef>
                <a:spcPts val="0"/>
              </a:spcBef>
              <a:spcAft>
                <a:spcPts val="500"/>
              </a:spcAft>
            </a:pPr>
            <a:r>
              <a:rPr sz="1300" b="0" i="0">
                <a:solidFill>
                  <a:srgbClr val="DCDFE4"/>
                </a:solidFill>
                <a:latin typeface="Segoe UI"/>
              </a:rPr>
              <a:t>uno su lexema, su categoría, su fila y su columna.</a:t>
            </a:r>
          </a:p>
          <a:p>
            <a:pPr algn="l">
              <a:lnSpc>
                <a:spcPct val="120000"/>
              </a:lnSpc>
              <a:spcBef>
                <a:spcPts val="0"/>
              </a:spcBef>
              <a:spcAft>
                <a:spcPts val="500"/>
              </a:spcAft>
            </a:pPr>
            <a:r>
              <a:rPr sz="1300" b="0" i="0">
                <a:solidFill>
                  <a:srgbClr val="9AA2B1"/>
                </a:solidFill>
                <a:latin typeface="Segoe UI"/>
              </a:rPr>
              <a:t>No entiende de gramática: «pille_pues 5 5 5» son</a:t>
            </a:r>
          </a:p>
          <a:p>
            <a:pPr algn="l">
              <a:lnSpc>
                <a:spcPct val="120000"/>
              </a:lnSpc>
              <a:spcBef>
                <a:spcPts val="0"/>
              </a:spcBef>
              <a:spcAft>
                <a:spcPts val="500"/>
              </a:spcAft>
            </a:pPr>
            <a:r>
              <a:rPr sz="1300" b="0" i="0">
                <a:solidFill>
                  <a:srgbClr val="9AA2B1"/>
                </a:solidFill>
                <a:latin typeface="Segoe UI"/>
              </a:rPr>
              <a:t>cinco tokens válidos sin ser un programa con sentido.</a:t>
            </a:r>
          </a:p>
        </p:txBody>
      </p:sp>
      <p:sp>
        <p:nvSpPr>
          <p:cNvPr id="9" name="Rounded Rectangle 8"/>
          <p:cNvSpPr/>
          <p:nvPr/>
        </p:nvSpPr>
        <p:spPr>
          <a:xfrm>
            <a:off x="658368" y="3584448"/>
            <a:ext cx="5120640" cy="2048256"/>
          </a:xfrm>
          <a:prstGeom prst="roundRect">
            <a:avLst>
              <a:gd name="adj" fmla="val 6000"/>
            </a:avLst>
          </a:prstGeom>
          <a:solidFill>
            <a:srgbClr val="282C34"/>
          </a:solidFill>
          <a:ln w="12700">
            <a:solidFill>
              <a:srgbClr val="3237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9536" y="3749040"/>
            <a:ext cx="4718304" cy="1773936"/>
          </a:xfrm>
          <a:prstGeom prst="rect">
            <a:avLst/>
          </a:prstGeom>
          <a:noFill/>
        </p:spPr>
        <p:txBody>
          <a:bodyPr wrap="square" lIns="0" tIns="0" rIns="0" bIns="0" anchor="t">
            <a:spAutoFit/>
          </a:bodyPr>
          <a:lstStyle/>
          <a:p>
            <a:pPr algn="l">
              <a:lnSpc>
                <a:spcPct val="115000"/>
              </a:lnSpc>
              <a:spcBef>
                <a:spcPts val="0"/>
              </a:spcBef>
              <a:spcAft>
                <a:spcPts val="700"/>
              </a:spcAft>
            </a:pPr>
            <a:r>
              <a:rPr sz="1050" b="1" i="0">
                <a:solidFill>
                  <a:srgbClr val="61AFEF"/>
                </a:solidFill>
                <a:latin typeface="Segoe UI"/>
              </a:rPr>
              <a:t>UNA SOLA EXPRESIÓN REGULAR, RECORRIDA UNA SOLA VEZ</a:t>
            </a:r>
          </a:p>
          <a:p>
            <a:pPr algn="l">
              <a:lnSpc>
                <a:spcPct val="105000"/>
              </a:lnSpc>
              <a:spcBef>
                <a:spcPts val="0"/>
              </a:spcBef>
              <a:spcAft>
                <a:spcPts val="300"/>
              </a:spcAft>
            </a:pPr>
            <a:r>
              <a:rPr sz="1150" b="0" i="0">
                <a:solidFill>
                  <a:srgbClr val="98C379"/>
                </a:solidFill>
                <a:latin typeface="Consolas"/>
              </a:rPr>
              <a:t>("NUM_REAL",    r"\d+\.\d+"),   # primero el real…</a:t>
            </a:r>
          </a:p>
          <a:p>
            <a:pPr algn="l">
              <a:lnSpc>
                <a:spcPct val="105000"/>
              </a:lnSpc>
              <a:spcBef>
                <a:spcPts val="0"/>
              </a:spcBef>
              <a:spcAft>
                <a:spcPts val="300"/>
              </a:spcAft>
            </a:pPr>
            <a:r>
              <a:rPr sz="1150" b="0" i="0">
                <a:solidFill>
                  <a:srgbClr val="98C379"/>
                </a:solidFill>
                <a:latin typeface="Consolas"/>
              </a:rPr>
              <a:t>("NUM_ENTERO",  r"\d+"),          # …si no, 3.14 = 3 . 14</a:t>
            </a:r>
          </a:p>
          <a:p>
            <a:pPr algn="l">
              <a:lnSpc>
                <a:spcPct val="105000"/>
              </a:lnSpc>
              <a:spcBef>
                <a:spcPts val="0"/>
              </a:spcBef>
              <a:spcAft>
                <a:spcPts val="300"/>
              </a:spcAft>
            </a:pPr>
            <a:r>
              <a:rPr sz="1150" b="0" i="0">
                <a:solidFill>
                  <a:srgbClr val="98C379"/>
                </a:solidFill>
                <a:latin typeface="Consolas"/>
              </a:rPr>
              <a:t>("OP_POTENCIA", r"\*\*"),        # ** antes que *</a:t>
            </a:r>
          </a:p>
          <a:p>
            <a:pPr algn="l">
              <a:lnSpc>
                <a:spcPct val="105000"/>
              </a:lnSpc>
              <a:spcBef>
                <a:spcPts val="0"/>
              </a:spcBef>
              <a:spcAft>
                <a:spcPts val="300"/>
              </a:spcAft>
            </a:pPr>
            <a:r>
              <a:rPr sz="1150" b="0" i="0">
                <a:solidFill>
                  <a:srgbClr val="E5C07B"/>
                </a:solidFill>
                <a:latin typeface="Consolas"/>
              </a:rPr>
              <a:t>("OP_CONCAT",   r"&lt;&gt;"),           # &lt;&gt; antes que &lt;</a:t>
            </a:r>
          </a:p>
          <a:p>
            <a:pPr algn="l">
              <a:lnSpc>
                <a:spcPct val="105000"/>
              </a:lnSpc>
              <a:spcBef>
                <a:spcPts val="0"/>
              </a:spcBef>
              <a:spcAft>
                <a:spcPts val="300"/>
              </a:spcAft>
            </a:pPr>
            <a:r>
              <a:rPr sz="1150" b="0" i="0">
                <a:solidFill>
                  <a:srgbClr val="DCDFE4"/>
                </a:solidFill>
                <a:latin typeface="Consolas"/>
              </a:rPr>
              <a:t>("OP_MENOR",    r"&lt;"),</a:t>
            </a:r>
          </a:p>
        </p:txBody>
      </p:sp>
      <p:sp>
        <p:nvSpPr>
          <p:cNvPr id="11" name="Rounded Rectangle 10"/>
          <p:cNvSpPr/>
          <p:nvPr/>
        </p:nvSpPr>
        <p:spPr>
          <a:xfrm>
            <a:off x="6035040" y="1536192"/>
            <a:ext cx="5513832" cy="1938528"/>
          </a:xfrm>
          <a:prstGeom prst="roundRect">
            <a:avLst>
              <a:gd name="adj" fmla="val 8000"/>
            </a:avLst>
          </a:prstGeom>
          <a:solidFill>
            <a:srgbClr val="282C34"/>
          </a:solidFill>
          <a:ln w="12700">
            <a:solidFill>
              <a:srgbClr val="3237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72784" y="1737360"/>
            <a:ext cx="5038344" cy="1572768"/>
          </a:xfrm>
          <a:prstGeom prst="rect">
            <a:avLst/>
          </a:prstGeom>
          <a:noFill/>
        </p:spPr>
        <p:txBody>
          <a:bodyPr wrap="square" lIns="0" tIns="0" rIns="0" bIns="0" anchor="t">
            <a:spAutoFit/>
          </a:bodyPr>
          <a:lstStyle/>
          <a:p>
            <a:pPr algn="l">
              <a:lnSpc>
                <a:spcPct val="115000"/>
              </a:lnSpc>
              <a:spcBef>
                <a:spcPts val="0"/>
              </a:spcBef>
              <a:spcAft>
                <a:spcPts val="800"/>
              </a:spcAft>
            </a:pPr>
            <a:r>
              <a:rPr sz="1450" b="1" i="0">
                <a:solidFill>
                  <a:srgbClr val="E5C07B"/>
                </a:solidFill>
                <a:latin typeface="Segoe UI"/>
              </a:rPr>
              <a:t>EL DETALLE CLAVE</a:t>
            </a:r>
          </a:p>
          <a:p>
            <a:pPr algn="l">
              <a:lnSpc>
                <a:spcPct val="120000"/>
              </a:lnSpc>
              <a:spcBef>
                <a:spcPts val="0"/>
              </a:spcBef>
              <a:spcAft>
                <a:spcPts val="500"/>
              </a:spcAft>
            </a:pPr>
            <a:r>
              <a:rPr sz="1300" b="0" i="0">
                <a:solidFill>
                  <a:srgbClr val="DCDFE4"/>
                </a:solidFill>
                <a:latin typeface="Segoe UI"/>
              </a:rPr>
              <a:t>Python devuelve la PRIMERA alternativa que coincide,</a:t>
            </a:r>
          </a:p>
          <a:p>
            <a:pPr algn="l">
              <a:lnSpc>
                <a:spcPct val="120000"/>
              </a:lnSpc>
              <a:spcBef>
                <a:spcPts val="0"/>
              </a:spcBef>
              <a:spcAft>
                <a:spcPts val="500"/>
              </a:spcAft>
            </a:pPr>
            <a:r>
              <a:rPr sz="1300" b="0" i="0">
                <a:solidFill>
                  <a:srgbClr val="DCDFE4"/>
                </a:solidFill>
                <a:latin typeface="Segoe UI"/>
              </a:rPr>
              <a:t>no la más larga.</a:t>
            </a:r>
          </a:p>
          <a:p>
            <a:pPr algn="l">
              <a:lnSpc>
                <a:spcPct val="120000"/>
              </a:lnSpc>
              <a:spcBef>
                <a:spcPts val="0"/>
              </a:spcBef>
              <a:spcAft>
                <a:spcPts val="500"/>
              </a:spcAft>
            </a:pPr>
            <a:r>
              <a:rPr sz="1300" b="0" i="0">
                <a:solidFill>
                  <a:srgbClr val="9AA2B1"/>
                </a:solidFill>
                <a:latin typeface="Segoe UI"/>
              </a:rPr>
              <a:t>Por eso los operadores de dos caracteres van antes que</a:t>
            </a:r>
          </a:p>
          <a:p>
            <a:pPr algn="l">
              <a:lnSpc>
                <a:spcPct val="120000"/>
              </a:lnSpc>
              <a:spcBef>
                <a:spcPts val="0"/>
              </a:spcBef>
              <a:spcAft>
                <a:spcPts val="500"/>
              </a:spcAft>
            </a:pPr>
            <a:r>
              <a:rPr sz="1300" b="0" i="0">
                <a:solidFill>
                  <a:srgbClr val="9AA2B1"/>
                </a:solidFill>
                <a:latin typeface="Segoe UI"/>
              </a:rPr>
              <a:t>los de uno, y el número real antes que el entero.</a:t>
            </a:r>
          </a:p>
        </p:txBody>
      </p:sp>
      <p:sp>
        <p:nvSpPr>
          <p:cNvPr id="13" name="Rounded Rectangle 12"/>
          <p:cNvSpPr/>
          <p:nvPr/>
        </p:nvSpPr>
        <p:spPr>
          <a:xfrm>
            <a:off x="6035040" y="3584448"/>
            <a:ext cx="5513832" cy="1783080"/>
          </a:xfrm>
          <a:prstGeom prst="roundRect">
            <a:avLst>
              <a:gd name="adj" fmla="val 6000"/>
            </a:avLst>
          </a:prstGeom>
          <a:solidFill>
            <a:srgbClr val="282C34"/>
          </a:solidFill>
          <a:ln w="15875">
            <a:solidFill>
              <a:srgbClr val="E06C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91072" y="3767328"/>
            <a:ext cx="5029200" cy="1463040"/>
          </a:xfrm>
          <a:prstGeom prst="rect">
            <a:avLst/>
          </a:prstGeom>
          <a:noFill/>
        </p:spPr>
        <p:txBody>
          <a:bodyPr wrap="square" lIns="0" tIns="0" rIns="0" bIns="0" anchor="t">
            <a:spAutoFit/>
          </a:bodyPr>
          <a:lstStyle/>
          <a:p>
            <a:pPr algn="l">
              <a:lnSpc>
                <a:spcPct val="115000"/>
              </a:lnSpc>
              <a:spcBef>
                <a:spcPts val="0"/>
              </a:spcBef>
              <a:spcAft>
                <a:spcPts val="900"/>
              </a:spcAft>
            </a:pPr>
            <a:r>
              <a:rPr sz="1050" b="1" i="0">
                <a:solidFill>
                  <a:srgbClr val="E06C75"/>
                </a:solidFill>
                <a:latin typeface="Segoe UI"/>
              </a:rPr>
              <a:t>UN ERROR REAL QUE TUVIMOS</a:t>
            </a:r>
          </a:p>
          <a:p>
            <a:pPr algn="l">
              <a:lnSpc>
                <a:spcPct val="120000"/>
              </a:lnSpc>
              <a:spcBef>
                <a:spcPts val="0"/>
              </a:spcBef>
              <a:spcAft>
                <a:spcPts val="600"/>
              </a:spcAft>
            </a:pPr>
            <a:r>
              <a:rPr sz="1350" b="0" i="0">
                <a:solidFill>
                  <a:srgbClr val="DCDFE4"/>
                </a:solidFill>
                <a:latin typeface="Segoe UI"/>
              </a:rPr>
              <a:t>En la primera versión, OP_MENOR estaba antes que OP_CONCAT.</a:t>
            </a:r>
          </a:p>
          <a:p>
            <a:pPr algn="l">
              <a:lnSpc>
                <a:spcPct val="120000"/>
              </a:lnSpc>
              <a:spcBef>
                <a:spcPts val="0"/>
              </a:spcBef>
              <a:spcAft>
                <a:spcPts val="600"/>
              </a:spcAft>
            </a:pPr>
            <a:r>
              <a:rPr sz="1350" b="0">
                <a:solidFill>
                  <a:srgbClr val="9AA2B1"/>
                </a:solidFill>
                <a:latin typeface="Segoe UI"/>
              </a:rPr>
              <a:t>Resultado: </a:t>
            </a:r>
            <a:r>
              <a:rPr sz="1350" b="1">
                <a:solidFill>
                  <a:srgbClr val="98C379"/>
                </a:solidFill>
                <a:latin typeface="Consolas"/>
              </a:rPr>
              <a:t>&lt;&gt;</a:t>
            </a:r>
            <a:r>
              <a:rPr sz="1350" b="0">
                <a:solidFill>
                  <a:srgbClr val="9AA2B1"/>
                </a:solidFill>
                <a:latin typeface="Segoe UI"/>
              </a:rPr>
              <a:t> se partía en dos tokens, </a:t>
            </a:r>
            <a:r>
              <a:rPr sz="1350" b="1">
                <a:solidFill>
                  <a:srgbClr val="98C379"/>
                </a:solidFill>
                <a:latin typeface="Consolas"/>
              </a:rPr>
              <a:t>&lt;</a:t>
            </a:r>
            <a:r>
              <a:rPr sz="1350" b="0">
                <a:solidFill>
                  <a:srgbClr val="9AA2B1"/>
                </a:solidFill>
                <a:latin typeface="Segoe UI"/>
              </a:rPr>
              <a:t> y </a:t>
            </a:r>
            <a:r>
              <a:rPr sz="1350" b="1">
                <a:solidFill>
                  <a:srgbClr val="98C379"/>
                </a:solidFill>
                <a:latin typeface="Consolas"/>
              </a:rPr>
              <a:t>&gt;</a:t>
            </a:r>
            <a:r>
              <a:rPr sz="1350" b="0">
                <a:solidFill>
                  <a:srgbClr val="9AA2B1"/>
                </a:solidFill>
                <a:latin typeface="Segoe UI"/>
              </a:rPr>
              <a:t>.</a:t>
            </a:r>
          </a:p>
          <a:p>
            <a:pPr algn="l">
              <a:lnSpc>
                <a:spcPct val="120000"/>
              </a:lnSpc>
              <a:spcBef>
                <a:spcPts val="0"/>
              </a:spcBef>
              <a:spcAft>
                <a:spcPts val="0"/>
              </a:spcAft>
            </a:pPr>
            <a:r>
              <a:rPr sz="1300" b="0" i="1">
                <a:solidFill>
                  <a:srgbClr val="9AA2B1"/>
                </a:solidFill>
                <a:latin typeface="Segoe UI"/>
              </a:rPr>
              <a:t>Lo encontramos probando, no confiando.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21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475488"/>
            <a:ext cx="50292" cy="841248"/>
          </a:xfrm>
          <a:prstGeom prst="rect">
            <a:avLst/>
          </a:prstGeom>
          <a:solidFill>
            <a:srgbClr val="61A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438912"/>
            <a:ext cx="7863840" cy="960120"/>
          </a:xfrm>
          <a:prstGeom prst="rect">
            <a:avLst/>
          </a:prstGeom>
          <a:noFill/>
        </p:spPr>
        <p:txBody>
          <a:bodyPr wrap="square" lIns="0" tIns="0" rIns="0" bIns="0" anchor="t">
            <a:spAutoFit/>
          </a:bodyPr>
          <a:lstStyle/>
          <a:p>
            <a:pPr algn="l">
              <a:lnSpc>
                <a:spcPct val="115000"/>
              </a:lnSpc>
              <a:spcBef>
                <a:spcPts val="0"/>
              </a:spcBef>
              <a:spcAft>
                <a:spcPts val="300"/>
              </a:spcAft>
            </a:pPr>
            <a:r>
              <a:rPr sz="1150" b="1" i="0">
                <a:solidFill>
                  <a:srgbClr val="61AFEF"/>
                </a:solidFill>
                <a:latin typeface="Segoe UI"/>
              </a:rPr>
              <a:t>2.2  DECISIONES DE IMPLEMENTACIÓN</a:t>
            </a:r>
          </a:p>
          <a:p>
            <a:pPr algn="l">
              <a:lnSpc>
                <a:spcPct val="100000"/>
              </a:lnSpc>
              <a:spcBef>
                <a:spcPts val="0"/>
              </a:spcBef>
              <a:spcAft>
                <a:spcPts val="0"/>
              </a:spcAft>
            </a:pPr>
            <a:r>
              <a:rPr sz="2900" b="1" i="0">
                <a:solidFill>
                  <a:srgbClr val="DCDFE4"/>
                </a:solidFill>
                <a:latin typeface="Segoe UI"/>
              </a:rPr>
              <a:t>Cuatro decisiones que definen el lexer</a:t>
            </a:r>
          </a:p>
        </p:txBody>
      </p:sp>
      <p:sp>
        <p:nvSpPr>
          <p:cNvPr id="7" name="Rounded Rectangle 6"/>
          <p:cNvSpPr/>
          <p:nvPr/>
        </p:nvSpPr>
        <p:spPr>
          <a:xfrm>
            <a:off x="658368" y="1536192"/>
            <a:ext cx="5120640" cy="1280160"/>
          </a:xfrm>
          <a:prstGeom prst="roundRect">
            <a:avLst>
              <a:gd name="adj" fmla="val 8000"/>
            </a:avLst>
          </a:prstGeom>
          <a:solidFill>
            <a:srgbClr val="282C34"/>
          </a:solidFill>
          <a:ln w="12700">
            <a:solidFill>
              <a:srgbClr val="3237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96112" y="1737360"/>
            <a:ext cx="4645152" cy="914400"/>
          </a:xfrm>
          <a:prstGeom prst="rect">
            <a:avLst/>
          </a:prstGeom>
          <a:noFill/>
        </p:spPr>
        <p:txBody>
          <a:bodyPr wrap="square" lIns="0" tIns="0" rIns="0" bIns="0" anchor="t">
            <a:spAutoFit/>
          </a:bodyPr>
          <a:lstStyle/>
          <a:p>
            <a:pPr algn="l">
              <a:lnSpc>
                <a:spcPct val="115000"/>
              </a:lnSpc>
              <a:spcBef>
                <a:spcPts val="0"/>
              </a:spcBef>
              <a:spcAft>
                <a:spcPts val="800"/>
              </a:spcAft>
            </a:pPr>
            <a:r>
              <a:rPr sz="1450" b="1" i="0">
                <a:solidFill>
                  <a:srgbClr val="61AFEF"/>
                </a:solidFill>
                <a:latin typeface="Segoe UI"/>
              </a:rPr>
              <a:t>1  ·  LAS RESERVADAS NO ESTÁN EN LA REGEX</a:t>
            </a:r>
          </a:p>
          <a:p>
            <a:pPr algn="l">
              <a:lnSpc>
                <a:spcPct val="120000"/>
              </a:lnSpc>
              <a:spcBef>
                <a:spcPts val="0"/>
              </a:spcBef>
              <a:spcAft>
                <a:spcPts val="500"/>
              </a:spcAft>
            </a:pPr>
            <a:r>
              <a:rPr sz="1250" b="0" i="0">
                <a:solidFill>
                  <a:srgbClr val="DCDFE4"/>
                </a:solidFill>
                <a:latin typeface="Segoe UI"/>
              </a:rPr>
              <a:t>Se reconoce el identificador completo y luego se consulta</a:t>
            </a:r>
          </a:p>
          <a:p>
            <a:pPr algn="l">
              <a:lnSpc>
                <a:spcPct val="120000"/>
              </a:lnSpc>
              <a:spcBef>
                <a:spcPts val="0"/>
              </a:spcBef>
              <a:spcAft>
                <a:spcPts val="500"/>
              </a:spcAft>
            </a:pPr>
            <a:r>
              <a:rPr sz="1250" b="0" i="0">
                <a:solidFill>
                  <a:srgbClr val="9AA2B1"/>
                </a:solidFill>
                <a:latin typeface="Segoe UI"/>
              </a:rPr>
              <a:t>un diccionario. Así «pille_puesx» es un identificador.</a:t>
            </a:r>
          </a:p>
        </p:txBody>
      </p:sp>
      <p:sp>
        <p:nvSpPr>
          <p:cNvPr id="9" name="Rounded Rectangle 8"/>
          <p:cNvSpPr/>
          <p:nvPr/>
        </p:nvSpPr>
        <p:spPr>
          <a:xfrm>
            <a:off x="658368" y="2926080"/>
            <a:ext cx="5120640" cy="1207008"/>
          </a:xfrm>
          <a:prstGeom prst="roundRect">
            <a:avLst>
              <a:gd name="adj" fmla="val 6000"/>
            </a:avLst>
          </a:prstGeom>
          <a:solidFill>
            <a:srgbClr val="282C34"/>
          </a:solidFill>
          <a:ln w="12700">
            <a:solidFill>
              <a:srgbClr val="3237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9536" y="3090672"/>
            <a:ext cx="4718304" cy="932688"/>
          </a:xfrm>
          <a:prstGeom prst="rect">
            <a:avLst/>
          </a:prstGeom>
          <a:noFill/>
        </p:spPr>
        <p:txBody>
          <a:bodyPr wrap="square" lIns="0" tIns="0" rIns="0" bIns="0" anchor="t">
            <a:spAutoFit/>
          </a:bodyPr>
          <a:lstStyle/>
          <a:p>
            <a:pPr algn="l">
              <a:lnSpc>
                <a:spcPct val="105000"/>
              </a:lnSpc>
              <a:spcBef>
                <a:spcPts val="0"/>
              </a:spcBef>
              <a:spcAft>
                <a:spcPts val="300"/>
              </a:spcAft>
            </a:pPr>
            <a:r>
              <a:rPr sz="1200" b="0" i="0">
                <a:solidFill>
                  <a:srgbClr val="9AA2B1"/>
                </a:solidFill>
                <a:latin typeface="Consolas"/>
              </a:rPr>
              <a:t># primero el identificador completo…</a:t>
            </a:r>
          </a:p>
          <a:p>
            <a:pPr algn="l">
              <a:lnSpc>
                <a:spcPct val="105000"/>
              </a:lnSpc>
              <a:spcBef>
                <a:spcPts val="0"/>
              </a:spcBef>
              <a:spcAft>
                <a:spcPts val="300"/>
              </a:spcAft>
            </a:pPr>
            <a:r>
              <a:rPr sz="1200" b="0" i="0">
                <a:solidFill>
                  <a:srgbClr val="98C379"/>
                </a:solidFill>
                <a:latin typeface="Consolas"/>
              </a:rPr>
              <a:t>tipo = PALABRAS_RESERVADAS.get(</a:t>
            </a:r>
          </a:p>
          <a:p>
            <a:pPr algn="l">
              <a:lnSpc>
                <a:spcPct val="105000"/>
              </a:lnSpc>
              <a:spcBef>
                <a:spcPts val="0"/>
              </a:spcBef>
              <a:spcAft>
                <a:spcPts val="300"/>
              </a:spcAft>
            </a:pPr>
            <a:r>
              <a:rPr sz="1200" b="0" i="0">
                <a:solidFill>
                  <a:srgbClr val="98C379"/>
                </a:solidFill>
                <a:latin typeface="Consolas"/>
              </a:rPr>
              <a:t>           lexema, TipoToken.IDENTIFICADOR)</a:t>
            </a:r>
          </a:p>
        </p:txBody>
      </p:sp>
      <p:sp>
        <p:nvSpPr>
          <p:cNvPr id="11" name="Rounded Rectangle 10"/>
          <p:cNvSpPr/>
          <p:nvPr/>
        </p:nvSpPr>
        <p:spPr>
          <a:xfrm>
            <a:off x="6035040" y="1536192"/>
            <a:ext cx="5513832" cy="1280160"/>
          </a:xfrm>
          <a:prstGeom prst="roundRect">
            <a:avLst>
              <a:gd name="adj" fmla="val 8000"/>
            </a:avLst>
          </a:prstGeom>
          <a:solidFill>
            <a:srgbClr val="282C34"/>
          </a:solidFill>
          <a:ln w="12700">
            <a:solidFill>
              <a:srgbClr val="3237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72784" y="1737360"/>
            <a:ext cx="5038344" cy="914400"/>
          </a:xfrm>
          <a:prstGeom prst="rect">
            <a:avLst/>
          </a:prstGeom>
          <a:noFill/>
        </p:spPr>
        <p:txBody>
          <a:bodyPr wrap="square" lIns="0" tIns="0" rIns="0" bIns="0" anchor="t">
            <a:spAutoFit/>
          </a:bodyPr>
          <a:lstStyle/>
          <a:p>
            <a:pPr algn="l">
              <a:lnSpc>
                <a:spcPct val="115000"/>
              </a:lnSpc>
              <a:spcBef>
                <a:spcPts val="0"/>
              </a:spcBef>
              <a:spcAft>
                <a:spcPts val="800"/>
              </a:spcAft>
            </a:pPr>
            <a:r>
              <a:rPr sz="1450" b="1" i="0">
                <a:solidFill>
                  <a:srgbClr val="61AFEF"/>
                </a:solidFill>
                <a:latin typeface="Segoe UI"/>
              </a:rPr>
              <a:t>2  ·  FILA Y COLUMNA DE CADA TOKEN</a:t>
            </a:r>
          </a:p>
          <a:p>
            <a:pPr algn="l">
              <a:lnSpc>
                <a:spcPct val="120000"/>
              </a:lnSpc>
              <a:spcBef>
                <a:spcPts val="0"/>
              </a:spcBef>
              <a:spcAft>
                <a:spcPts val="500"/>
              </a:spcAft>
            </a:pPr>
            <a:r>
              <a:rPr sz="1250" b="0" i="0">
                <a:solidFill>
                  <a:srgbClr val="DCDFE4"/>
                </a:solidFill>
                <a:latin typeface="Segoe UI"/>
              </a:rPr>
              <a:t>Se suma el largo de cada lexema; si trae saltos de línea, la</a:t>
            </a:r>
          </a:p>
          <a:p>
            <a:pPr algn="l">
              <a:lnSpc>
                <a:spcPct val="120000"/>
              </a:lnSpc>
              <a:spcBef>
                <a:spcPts val="0"/>
              </a:spcBef>
              <a:spcAft>
                <a:spcPts val="500"/>
              </a:spcAft>
            </a:pPr>
            <a:r>
              <a:rPr sz="1250" b="0" i="0">
                <a:solidFill>
                  <a:srgbClr val="9AA2B1"/>
                </a:solidFill>
                <a:latin typeface="Segoe UI"/>
              </a:rPr>
              <a:t>columna se recalcula desde el último salto.</a:t>
            </a:r>
          </a:p>
        </p:txBody>
      </p:sp>
      <p:sp>
        <p:nvSpPr>
          <p:cNvPr id="13" name="Rounded Rectangle 12"/>
          <p:cNvSpPr/>
          <p:nvPr/>
        </p:nvSpPr>
        <p:spPr>
          <a:xfrm>
            <a:off x="6035040" y="2926080"/>
            <a:ext cx="5513832" cy="1481328"/>
          </a:xfrm>
          <a:prstGeom prst="roundRect">
            <a:avLst>
              <a:gd name="adj" fmla="val 6000"/>
            </a:avLst>
          </a:prstGeom>
          <a:solidFill>
            <a:srgbClr val="282C34"/>
          </a:solidFill>
          <a:ln w="12700">
            <a:solidFill>
              <a:srgbClr val="3237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36208" y="3090672"/>
            <a:ext cx="5111496" cy="1207008"/>
          </a:xfrm>
          <a:prstGeom prst="rect">
            <a:avLst/>
          </a:prstGeom>
          <a:noFill/>
        </p:spPr>
        <p:txBody>
          <a:bodyPr wrap="square" lIns="0" tIns="0" rIns="0" bIns="0" anchor="t">
            <a:spAutoFit/>
          </a:bodyPr>
          <a:lstStyle/>
          <a:p>
            <a:pPr algn="l">
              <a:lnSpc>
                <a:spcPct val="105000"/>
              </a:lnSpc>
              <a:spcBef>
                <a:spcPts val="0"/>
              </a:spcBef>
              <a:spcAft>
                <a:spcPts val="300"/>
              </a:spcAft>
            </a:pPr>
            <a:r>
              <a:rPr sz="1100" b="0" i="0">
                <a:solidFill>
                  <a:srgbClr val="98C379"/>
                </a:solidFill>
                <a:latin typeface="Consolas"/>
              </a:rPr>
              <a:t>saltos = lexema.count("\n")</a:t>
            </a:r>
          </a:p>
          <a:p>
            <a:pPr algn="l">
              <a:lnSpc>
                <a:spcPct val="105000"/>
              </a:lnSpc>
              <a:spcBef>
                <a:spcPts val="0"/>
              </a:spcBef>
              <a:spcAft>
                <a:spcPts val="300"/>
              </a:spcAft>
            </a:pPr>
            <a:r>
              <a:rPr sz="1100" b="0" i="0">
                <a:solidFill>
                  <a:srgbClr val="98C379"/>
                </a:solidFill>
                <a:latin typeface="Consolas"/>
              </a:rPr>
              <a:t>if saltos:  self._fila += saltos</a:t>
            </a:r>
          </a:p>
          <a:p>
            <a:pPr algn="l">
              <a:lnSpc>
                <a:spcPct val="105000"/>
              </a:lnSpc>
              <a:spcBef>
                <a:spcPts val="0"/>
              </a:spcBef>
              <a:spcAft>
                <a:spcPts val="300"/>
              </a:spcAft>
            </a:pPr>
            <a:r>
              <a:rPr sz="1100" b="0" i="0">
                <a:solidFill>
                  <a:srgbClr val="98C379"/>
                </a:solidFill>
                <a:latin typeface="Consolas"/>
              </a:rPr>
              <a:t>            self._columna = len(lexema) - lexema.rfind("\n")</a:t>
            </a:r>
          </a:p>
          <a:p>
            <a:pPr algn="l">
              <a:lnSpc>
                <a:spcPct val="105000"/>
              </a:lnSpc>
              <a:spcBef>
                <a:spcPts val="0"/>
              </a:spcBef>
              <a:spcAft>
                <a:spcPts val="300"/>
              </a:spcAft>
            </a:pPr>
            <a:r>
              <a:rPr sz="1100" b="0" i="0">
                <a:solidFill>
                  <a:srgbClr val="98C379"/>
                </a:solidFill>
                <a:latin typeface="Consolas"/>
              </a:rPr>
              <a:t>else:       self._columna += len(lexema)</a:t>
            </a:r>
          </a:p>
        </p:txBody>
      </p:sp>
      <p:sp>
        <p:nvSpPr>
          <p:cNvPr id="15" name="Rounded Rectangle 14"/>
          <p:cNvSpPr/>
          <p:nvPr/>
        </p:nvSpPr>
        <p:spPr>
          <a:xfrm>
            <a:off x="658368" y="4617720"/>
            <a:ext cx="5120640" cy="1572768"/>
          </a:xfrm>
          <a:prstGeom prst="roundRect">
            <a:avLst>
              <a:gd name="adj" fmla="val 8000"/>
            </a:avLst>
          </a:prstGeom>
          <a:solidFill>
            <a:srgbClr val="282C34"/>
          </a:solidFill>
          <a:ln w="12700">
            <a:solidFill>
              <a:srgbClr val="3237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6112" y="4818888"/>
            <a:ext cx="4645152" cy="1207008"/>
          </a:xfrm>
          <a:prstGeom prst="rect">
            <a:avLst/>
          </a:prstGeom>
          <a:noFill/>
        </p:spPr>
        <p:txBody>
          <a:bodyPr wrap="square" lIns="0" tIns="0" rIns="0" bIns="0" anchor="t">
            <a:spAutoFit/>
          </a:bodyPr>
          <a:lstStyle/>
          <a:p>
            <a:pPr algn="l">
              <a:lnSpc>
                <a:spcPct val="115000"/>
              </a:lnSpc>
              <a:spcBef>
                <a:spcPts val="0"/>
              </a:spcBef>
              <a:spcAft>
                <a:spcPts val="800"/>
              </a:spcAft>
            </a:pPr>
            <a:r>
              <a:rPr sz="1450" b="1" i="0">
                <a:solidFill>
                  <a:srgbClr val="E5C07B"/>
                </a:solidFill>
                <a:latin typeface="Segoe UI"/>
              </a:rPr>
              <a:t>3  ·  LOS ERRORES NO DETIENEN EL ANÁLISIS</a:t>
            </a:r>
          </a:p>
          <a:p>
            <a:pPr algn="l">
              <a:lnSpc>
                <a:spcPct val="120000"/>
              </a:lnSpc>
              <a:spcBef>
                <a:spcPts val="0"/>
              </a:spcBef>
              <a:spcAft>
                <a:spcPts val="500"/>
              </a:spcAft>
            </a:pPr>
            <a:r>
              <a:rPr sz="1250" b="0" i="0">
                <a:solidFill>
                  <a:srgbClr val="DCDFE4"/>
                </a:solidFill>
                <a:latin typeface="Segoe UI"/>
              </a:rPr>
              <a:t>Requisito 14: el error se guarda en una lista y el</a:t>
            </a:r>
          </a:p>
          <a:p>
            <a:pPr algn="l">
              <a:lnSpc>
                <a:spcPct val="120000"/>
              </a:lnSpc>
              <a:spcBef>
                <a:spcPts val="0"/>
              </a:spcBef>
              <a:spcAft>
                <a:spcPts val="500"/>
              </a:spcAft>
            </a:pPr>
            <a:r>
              <a:rPr sz="1250" b="0" i="0">
                <a:solidFill>
                  <a:srgbClr val="9AA2B1"/>
                </a:solidFill>
                <a:latin typeface="Segoe UI"/>
              </a:rPr>
              <a:t>recorrido sigue con el siguiente carácter. Así un solo</a:t>
            </a:r>
          </a:p>
          <a:p>
            <a:pPr algn="l">
              <a:lnSpc>
                <a:spcPct val="120000"/>
              </a:lnSpc>
              <a:spcBef>
                <a:spcPts val="0"/>
              </a:spcBef>
              <a:spcAft>
                <a:spcPts val="500"/>
              </a:spcAft>
            </a:pPr>
            <a:r>
              <a:rPr sz="1250" b="0" i="0">
                <a:solidFill>
                  <a:srgbClr val="9AA2B1"/>
                </a:solidFill>
                <a:latin typeface="Segoe UI"/>
              </a:rPr>
              <a:t>error no oculta los demás: se reportan todos de una vez.</a:t>
            </a:r>
          </a:p>
        </p:txBody>
      </p:sp>
      <p:sp>
        <p:nvSpPr>
          <p:cNvPr id="17" name="Rounded Rectangle 16"/>
          <p:cNvSpPr/>
          <p:nvPr/>
        </p:nvSpPr>
        <p:spPr>
          <a:xfrm>
            <a:off x="6035040" y="4617720"/>
            <a:ext cx="5513832" cy="1572768"/>
          </a:xfrm>
          <a:prstGeom prst="roundRect">
            <a:avLst>
              <a:gd name="adj" fmla="val 7000"/>
            </a:avLst>
          </a:prstGeom>
          <a:solidFill>
            <a:srgbClr val="282C34"/>
          </a:solidFill>
          <a:ln w="15875">
            <a:solidFill>
              <a:srgbClr val="98C3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91072" y="4800600"/>
            <a:ext cx="5029200" cy="1234440"/>
          </a:xfrm>
          <a:prstGeom prst="rect">
            <a:avLst/>
          </a:prstGeom>
          <a:noFill/>
        </p:spPr>
        <p:txBody>
          <a:bodyPr wrap="square" lIns="0" tIns="0" rIns="0" bIns="0" anchor="t">
            <a:spAutoFit/>
          </a:bodyPr>
          <a:lstStyle/>
          <a:p>
            <a:pPr algn="l">
              <a:lnSpc>
                <a:spcPct val="115000"/>
              </a:lnSpc>
              <a:spcBef>
                <a:spcPts val="0"/>
              </a:spcBef>
              <a:spcAft>
                <a:spcPts val="700"/>
              </a:spcAft>
            </a:pPr>
            <a:r>
              <a:rPr sz="1350" b="1" i="0">
                <a:solidFill>
                  <a:srgbClr val="98C379"/>
                </a:solidFill>
                <a:latin typeface="Segoe UI"/>
              </a:rPr>
              <a:t>4  ·  ARQUITECTURA  —  REQUISITO 15</a:t>
            </a:r>
          </a:p>
          <a:p>
            <a:pPr algn="l">
              <a:lnSpc>
                <a:spcPct val="105000"/>
              </a:lnSpc>
              <a:spcBef>
                <a:spcPts val="0"/>
              </a:spcBef>
              <a:spcAft>
                <a:spcPts val="100"/>
              </a:spcAft>
            </a:pPr>
            <a:r>
              <a:rPr sz="1200" b="0" i="0">
                <a:solidFill>
                  <a:srgbClr val="DCDFE4"/>
                </a:solidFill>
                <a:latin typeface="Consolas"/>
              </a:rPr>
              <a:t>main.py  (consola)  ─┐</a:t>
            </a:r>
          </a:p>
          <a:p>
            <a:pPr algn="l">
              <a:lnSpc>
                <a:spcPct val="105000"/>
              </a:lnSpc>
              <a:spcBef>
                <a:spcPts val="0"/>
              </a:spcBef>
              <a:spcAft>
                <a:spcPts val="100"/>
              </a:spcAft>
            </a:pPr>
            <a:r>
              <a:rPr sz="1200" b="0" i="0">
                <a:solidFill>
                  <a:srgbClr val="DCDFE4"/>
                </a:solidFill>
                <a:latin typeface="Consolas"/>
              </a:rPr>
              <a:t>                    ├──►  lexer.py  ──►  mapeo_gleam.py</a:t>
            </a:r>
          </a:p>
          <a:p>
            <a:pPr algn="l">
              <a:lnSpc>
                <a:spcPct val="105000"/>
              </a:lnSpc>
              <a:spcBef>
                <a:spcPts val="0"/>
              </a:spcBef>
              <a:spcAft>
                <a:spcPts val="600"/>
              </a:spcAft>
            </a:pPr>
            <a:r>
              <a:rPr sz="1200" b="0" i="0">
                <a:solidFill>
                  <a:srgbClr val="DCDFE4"/>
                </a:solidFill>
                <a:latin typeface="Consolas"/>
              </a:rPr>
              <a:t>app.py   (web)      ─┘         (sin cambios)</a:t>
            </a:r>
          </a:p>
          <a:p>
            <a:pPr algn="l">
              <a:lnSpc>
                <a:spcPct val="115000"/>
              </a:lnSpc>
              <a:spcBef>
                <a:spcPts val="0"/>
              </a:spcBef>
              <a:spcAft>
                <a:spcPts val="0"/>
              </a:spcAft>
            </a:pPr>
            <a:r>
              <a:rPr sz="1200" b="0" i="1">
                <a:solidFill>
                  <a:srgbClr val="9AA2B1"/>
                </a:solidFill>
                <a:latin typeface="Segoe UI"/>
              </a:rPr>
              <a:t>La web se construyó después y no tocamos el lexer.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21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475488"/>
            <a:ext cx="50292" cy="841248"/>
          </a:xfrm>
          <a:prstGeom prst="rect">
            <a:avLst/>
          </a:prstGeom>
          <a:solidFill>
            <a:srgbClr val="98C3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438912"/>
            <a:ext cx="7863840" cy="960120"/>
          </a:xfrm>
          <a:prstGeom prst="rect">
            <a:avLst/>
          </a:prstGeom>
          <a:noFill/>
        </p:spPr>
        <p:txBody>
          <a:bodyPr wrap="square" lIns="0" tIns="0" rIns="0" bIns="0" anchor="t">
            <a:spAutoFit/>
          </a:bodyPr>
          <a:lstStyle/>
          <a:p>
            <a:pPr algn="l">
              <a:lnSpc>
                <a:spcPct val="115000"/>
              </a:lnSpc>
              <a:spcBef>
                <a:spcPts val="0"/>
              </a:spcBef>
              <a:spcAft>
                <a:spcPts val="300"/>
              </a:spcAft>
            </a:pPr>
            <a:r>
              <a:rPr sz="1150" b="1" i="0">
                <a:solidFill>
                  <a:srgbClr val="98C379"/>
                </a:solidFill>
                <a:latin typeface="Segoe UI"/>
              </a:rPr>
              <a:t>PARTE 3  ·  DEMOSTRACIÓN EN VIVO</a:t>
            </a:r>
          </a:p>
          <a:p>
            <a:pPr algn="l">
              <a:lnSpc>
                <a:spcPct val="100000"/>
              </a:lnSpc>
              <a:spcBef>
                <a:spcPts val="0"/>
              </a:spcBef>
              <a:spcAft>
                <a:spcPts val="0"/>
              </a:spcAft>
            </a:pPr>
            <a:r>
              <a:rPr sz="2900" b="1" i="0">
                <a:solidFill>
                  <a:srgbClr val="DCDFE4"/>
                </a:solidFill>
                <a:latin typeface="Segoe UI"/>
              </a:rPr>
              <a:t>compiladorlex.streamlit.app</a:t>
            </a:r>
          </a:p>
        </p:txBody>
      </p:sp>
      <p:sp>
        <p:nvSpPr>
          <p:cNvPr id="7" name="Rounded Rectangle 6"/>
          <p:cNvSpPr/>
          <p:nvPr/>
        </p:nvSpPr>
        <p:spPr>
          <a:xfrm>
            <a:off x="658368" y="1627632"/>
            <a:ext cx="10881360" cy="786384"/>
          </a:xfrm>
          <a:prstGeom prst="roundRect">
            <a:avLst>
              <a:gd name="adj" fmla="val 14000"/>
            </a:avLst>
          </a:prstGeom>
          <a:solidFill>
            <a:srgbClr val="282C34"/>
          </a:solidFill>
          <a:ln w="12700">
            <a:solidFill>
              <a:srgbClr val="3237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58368" y="1627632"/>
            <a:ext cx="45720" cy="786384"/>
          </a:xfrm>
          <a:prstGeom prst="rect">
            <a:avLst/>
          </a:prstGeom>
          <a:solidFill>
            <a:srgbClr val="98C3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1627632"/>
            <a:ext cx="502920" cy="786384"/>
          </a:xfrm>
          <a:prstGeom prst="rect">
            <a:avLst/>
          </a:prstGeom>
          <a:noFill/>
        </p:spPr>
        <p:txBody>
          <a:bodyPr wrap="square" lIns="0" tIns="0" rIns="0" bIns="0" anchor="ctr">
            <a:spAutoFit/>
          </a:bodyPr>
          <a:lstStyle/>
          <a:p>
            <a:pPr algn="ctr">
              <a:lnSpc>
                <a:spcPct val="115000"/>
              </a:lnSpc>
              <a:spcBef>
                <a:spcPts val="0"/>
              </a:spcBef>
              <a:spcAft>
                <a:spcPts val="0"/>
              </a:spcAft>
            </a:pPr>
            <a:r>
              <a:rPr sz="2500" b="1" i="0">
                <a:solidFill>
                  <a:srgbClr val="98C379"/>
                </a:solidFill>
                <a:latin typeface="Segoe UI"/>
              </a:rPr>
              <a:t>1</a:t>
            </a:r>
          </a:p>
        </p:txBody>
      </p:sp>
      <p:sp>
        <p:nvSpPr>
          <p:cNvPr id="10" name="TextBox 9"/>
          <p:cNvSpPr txBox="1"/>
          <p:nvPr/>
        </p:nvSpPr>
        <p:spPr>
          <a:xfrm>
            <a:off x="1463040" y="1755648"/>
            <a:ext cx="5943600" cy="548640"/>
          </a:xfrm>
          <a:prstGeom prst="rect">
            <a:avLst/>
          </a:prstGeom>
          <a:noFill/>
        </p:spPr>
        <p:txBody>
          <a:bodyPr wrap="square" lIns="0" tIns="0" rIns="0" bIns="0" anchor="t">
            <a:spAutoFit/>
          </a:bodyPr>
          <a:lstStyle/>
          <a:p>
            <a:pPr algn="l">
              <a:lnSpc>
                <a:spcPct val="115000"/>
              </a:lnSpc>
              <a:spcBef>
                <a:spcPts val="0"/>
              </a:spcBef>
              <a:spcAft>
                <a:spcPts val="200"/>
              </a:spcAft>
            </a:pPr>
            <a:r>
              <a:rPr sz="1500" b="1" i="0">
                <a:solidFill>
                  <a:srgbClr val="DCDFE4"/>
                </a:solidFill>
                <a:latin typeface="Segoe UI"/>
              </a:rPr>
              <a:t>Los tres modos de entrada</a:t>
            </a:r>
          </a:p>
          <a:p>
            <a:pPr algn="l">
              <a:lnSpc>
                <a:spcPct val="110000"/>
              </a:lnSpc>
              <a:spcBef>
                <a:spcPts val="0"/>
              </a:spcBef>
              <a:spcAft>
                <a:spcPts val="0"/>
              </a:spcAft>
            </a:pPr>
            <a:r>
              <a:rPr sz="1200" b="0" i="0">
                <a:solidFill>
                  <a:srgbClr val="9AA2B1"/>
                </a:solidFill>
                <a:latin typeface="Segoe UI"/>
              </a:rPr>
              <a:t>Barra lateral: predefinida, cadena libre y archivo .paisa.</a:t>
            </a:r>
          </a:p>
        </p:txBody>
      </p:sp>
      <p:sp>
        <p:nvSpPr>
          <p:cNvPr id="11" name="TextBox 10"/>
          <p:cNvSpPr txBox="1"/>
          <p:nvPr/>
        </p:nvSpPr>
        <p:spPr>
          <a:xfrm>
            <a:off x="7589520" y="1627632"/>
            <a:ext cx="2743200" cy="786384"/>
          </a:xfrm>
          <a:prstGeom prst="rect">
            <a:avLst/>
          </a:prstGeom>
          <a:noFill/>
        </p:spPr>
        <p:txBody>
          <a:bodyPr wrap="square" lIns="0" tIns="0" rIns="0" bIns="0" anchor="ctr">
            <a:spAutoFit/>
          </a:bodyPr>
          <a:lstStyle/>
          <a:p>
            <a:pPr algn="r">
              <a:lnSpc>
                <a:spcPct val="115000"/>
              </a:lnSpc>
              <a:spcBef>
                <a:spcPts val="0"/>
              </a:spcBef>
              <a:spcAft>
                <a:spcPts val="0"/>
              </a:spcAft>
            </a:pPr>
            <a:r>
              <a:rPr sz="1200" b="1" i="0">
                <a:solidFill>
                  <a:srgbClr val="98C379"/>
                </a:solidFill>
                <a:latin typeface="Segoe UI"/>
              </a:rPr>
              <a:t>Requisito 11</a:t>
            </a:r>
          </a:p>
        </p:txBody>
      </p:sp>
      <p:sp>
        <p:nvSpPr>
          <p:cNvPr id="12" name="TextBox 11"/>
          <p:cNvSpPr txBox="1"/>
          <p:nvPr/>
        </p:nvSpPr>
        <p:spPr>
          <a:xfrm>
            <a:off x="10515600" y="1627632"/>
            <a:ext cx="868680" cy="786384"/>
          </a:xfrm>
          <a:prstGeom prst="rect">
            <a:avLst/>
          </a:prstGeom>
          <a:noFill/>
        </p:spPr>
        <p:txBody>
          <a:bodyPr wrap="square" lIns="0" tIns="0" rIns="0" bIns="0" anchor="ctr">
            <a:spAutoFit/>
          </a:bodyPr>
          <a:lstStyle/>
          <a:p>
            <a:pPr algn="r">
              <a:lnSpc>
                <a:spcPct val="115000"/>
              </a:lnSpc>
              <a:spcBef>
                <a:spcPts val="0"/>
              </a:spcBef>
              <a:spcAft>
                <a:spcPts val="0"/>
              </a:spcAft>
            </a:pPr>
            <a:r>
              <a:rPr sz="1300" b="0" i="0">
                <a:solidFill>
                  <a:srgbClr val="9AA2B1"/>
                </a:solidFill>
                <a:latin typeface="Segoe UI"/>
              </a:rPr>
              <a:t>0:20</a:t>
            </a:r>
          </a:p>
        </p:txBody>
      </p:sp>
      <p:sp>
        <p:nvSpPr>
          <p:cNvPr id="13" name="Rounded Rectangle 12"/>
          <p:cNvSpPr/>
          <p:nvPr/>
        </p:nvSpPr>
        <p:spPr>
          <a:xfrm>
            <a:off x="658368" y="2514600"/>
            <a:ext cx="10881360" cy="786384"/>
          </a:xfrm>
          <a:prstGeom prst="roundRect">
            <a:avLst>
              <a:gd name="adj" fmla="val 14000"/>
            </a:avLst>
          </a:prstGeom>
          <a:solidFill>
            <a:srgbClr val="282C34"/>
          </a:solidFill>
          <a:ln w="12700">
            <a:solidFill>
              <a:srgbClr val="3237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58368" y="2514600"/>
            <a:ext cx="45720" cy="786384"/>
          </a:xfrm>
          <a:prstGeom prst="rect">
            <a:avLst/>
          </a:prstGeom>
          <a:solidFill>
            <a:srgbClr val="98C3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 y="2514600"/>
            <a:ext cx="502920" cy="786384"/>
          </a:xfrm>
          <a:prstGeom prst="rect">
            <a:avLst/>
          </a:prstGeom>
          <a:noFill/>
        </p:spPr>
        <p:txBody>
          <a:bodyPr wrap="square" lIns="0" tIns="0" rIns="0" bIns="0" anchor="ctr">
            <a:spAutoFit/>
          </a:bodyPr>
          <a:lstStyle/>
          <a:p>
            <a:pPr algn="ctr">
              <a:lnSpc>
                <a:spcPct val="115000"/>
              </a:lnSpc>
              <a:spcBef>
                <a:spcPts val="0"/>
              </a:spcBef>
              <a:spcAft>
                <a:spcPts val="0"/>
              </a:spcAft>
            </a:pPr>
            <a:r>
              <a:rPr sz="2500" b="1" i="0">
                <a:solidFill>
                  <a:srgbClr val="98C379"/>
                </a:solidFill>
                <a:latin typeface="Segoe UI"/>
              </a:rPr>
              <a:t>2</a:t>
            </a:r>
          </a:p>
        </p:txBody>
      </p:sp>
      <p:sp>
        <p:nvSpPr>
          <p:cNvPr id="16" name="TextBox 15"/>
          <p:cNvSpPr txBox="1"/>
          <p:nvPr/>
        </p:nvSpPr>
        <p:spPr>
          <a:xfrm>
            <a:off x="1463040" y="2642616"/>
            <a:ext cx="5943600" cy="548640"/>
          </a:xfrm>
          <a:prstGeom prst="rect">
            <a:avLst/>
          </a:prstGeom>
          <a:noFill/>
        </p:spPr>
        <p:txBody>
          <a:bodyPr wrap="square" lIns="0" tIns="0" rIns="0" bIns="0" anchor="t">
            <a:spAutoFit/>
          </a:bodyPr>
          <a:lstStyle/>
          <a:p>
            <a:pPr algn="l">
              <a:lnSpc>
                <a:spcPct val="115000"/>
              </a:lnSpc>
              <a:spcBef>
                <a:spcPts val="0"/>
              </a:spcBef>
              <a:spcAft>
                <a:spcPts val="200"/>
              </a:spcAft>
            </a:pPr>
            <a:r>
              <a:rPr sz="1500" b="1" i="0">
                <a:solidFill>
                  <a:srgbClr val="DCDFE4"/>
                </a:solidFill>
                <a:latin typeface="Segoe UI"/>
              </a:rPr>
              <a:t>Visualización de tokens</a:t>
            </a:r>
          </a:p>
          <a:p>
            <a:pPr algn="l">
              <a:lnSpc>
                <a:spcPct val="110000"/>
              </a:lnSpc>
              <a:spcBef>
                <a:spcPts val="0"/>
              </a:spcBef>
              <a:spcAft>
                <a:spcPts val="0"/>
              </a:spcAft>
            </a:pPr>
            <a:r>
              <a:rPr sz="1200" b="0" i="0">
                <a:solidFill>
                  <a:srgbClr val="9AA2B1"/>
                </a:solidFill>
                <a:latin typeface="Segoe UI"/>
              </a:rPr>
              <a:t>Pestañas «Código segmentado» y «Flujo de tokens», pintadas por categoría.</a:t>
            </a:r>
          </a:p>
        </p:txBody>
      </p:sp>
      <p:sp>
        <p:nvSpPr>
          <p:cNvPr id="17" name="TextBox 16"/>
          <p:cNvSpPr txBox="1"/>
          <p:nvPr/>
        </p:nvSpPr>
        <p:spPr>
          <a:xfrm>
            <a:off x="7589520" y="2514600"/>
            <a:ext cx="2743200" cy="786384"/>
          </a:xfrm>
          <a:prstGeom prst="rect">
            <a:avLst/>
          </a:prstGeom>
          <a:noFill/>
        </p:spPr>
        <p:txBody>
          <a:bodyPr wrap="square" lIns="0" tIns="0" rIns="0" bIns="0" anchor="ctr">
            <a:spAutoFit/>
          </a:bodyPr>
          <a:lstStyle/>
          <a:p>
            <a:pPr algn="r">
              <a:lnSpc>
                <a:spcPct val="115000"/>
              </a:lnSpc>
              <a:spcBef>
                <a:spcPts val="0"/>
              </a:spcBef>
              <a:spcAft>
                <a:spcPts val="0"/>
              </a:spcAft>
            </a:pPr>
            <a:r>
              <a:rPr sz="1200" b="1" i="0">
                <a:solidFill>
                  <a:srgbClr val="98C379"/>
                </a:solidFill>
                <a:latin typeface="Segoe UI"/>
              </a:rPr>
              <a:t>Requisito 12  ·  10 %</a:t>
            </a:r>
          </a:p>
        </p:txBody>
      </p:sp>
      <p:sp>
        <p:nvSpPr>
          <p:cNvPr id="18" name="TextBox 17"/>
          <p:cNvSpPr txBox="1"/>
          <p:nvPr/>
        </p:nvSpPr>
        <p:spPr>
          <a:xfrm>
            <a:off x="10515600" y="2514600"/>
            <a:ext cx="868680" cy="786384"/>
          </a:xfrm>
          <a:prstGeom prst="rect">
            <a:avLst/>
          </a:prstGeom>
          <a:noFill/>
        </p:spPr>
        <p:txBody>
          <a:bodyPr wrap="square" lIns="0" tIns="0" rIns="0" bIns="0" anchor="ctr">
            <a:spAutoFit/>
          </a:bodyPr>
          <a:lstStyle/>
          <a:p>
            <a:pPr algn="r">
              <a:lnSpc>
                <a:spcPct val="115000"/>
              </a:lnSpc>
              <a:spcBef>
                <a:spcPts val="0"/>
              </a:spcBef>
              <a:spcAft>
                <a:spcPts val="0"/>
              </a:spcAft>
            </a:pPr>
            <a:r>
              <a:rPr sz="1300" b="0" i="0">
                <a:solidFill>
                  <a:srgbClr val="9AA2B1"/>
                </a:solidFill>
                <a:latin typeface="Segoe UI"/>
              </a:rPr>
              <a:t>0:40</a:t>
            </a:r>
          </a:p>
        </p:txBody>
      </p:sp>
      <p:sp>
        <p:nvSpPr>
          <p:cNvPr id="19" name="Rounded Rectangle 18"/>
          <p:cNvSpPr/>
          <p:nvPr/>
        </p:nvSpPr>
        <p:spPr>
          <a:xfrm>
            <a:off x="658368" y="3401568"/>
            <a:ext cx="10881360" cy="786384"/>
          </a:xfrm>
          <a:prstGeom prst="roundRect">
            <a:avLst>
              <a:gd name="adj" fmla="val 14000"/>
            </a:avLst>
          </a:prstGeom>
          <a:solidFill>
            <a:srgbClr val="282C34"/>
          </a:solidFill>
          <a:ln w="12700">
            <a:solidFill>
              <a:srgbClr val="3237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58368" y="3401568"/>
            <a:ext cx="45720" cy="786384"/>
          </a:xfrm>
          <a:prstGeom prst="rect">
            <a:avLst/>
          </a:prstGeom>
          <a:solidFill>
            <a:srgbClr val="98C3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68680" y="3401568"/>
            <a:ext cx="502920" cy="786384"/>
          </a:xfrm>
          <a:prstGeom prst="rect">
            <a:avLst/>
          </a:prstGeom>
          <a:noFill/>
        </p:spPr>
        <p:txBody>
          <a:bodyPr wrap="square" lIns="0" tIns="0" rIns="0" bIns="0" anchor="ctr">
            <a:spAutoFit/>
          </a:bodyPr>
          <a:lstStyle/>
          <a:p>
            <a:pPr algn="ctr">
              <a:lnSpc>
                <a:spcPct val="115000"/>
              </a:lnSpc>
              <a:spcBef>
                <a:spcPts val="0"/>
              </a:spcBef>
              <a:spcAft>
                <a:spcPts val="0"/>
              </a:spcAft>
            </a:pPr>
            <a:r>
              <a:rPr sz="2500" b="1" i="0">
                <a:solidFill>
                  <a:srgbClr val="98C379"/>
                </a:solidFill>
                <a:latin typeface="Segoe UI"/>
              </a:rPr>
              <a:t>3</a:t>
            </a:r>
          </a:p>
        </p:txBody>
      </p:sp>
      <p:sp>
        <p:nvSpPr>
          <p:cNvPr id="22" name="TextBox 21"/>
          <p:cNvSpPr txBox="1"/>
          <p:nvPr/>
        </p:nvSpPr>
        <p:spPr>
          <a:xfrm>
            <a:off x="1463040" y="3529584"/>
            <a:ext cx="5943600" cy="548640"/>
          </a:xfrm>
          <a:prstGeom prst="rect">
            <a:avLst/>
          </a:prstGeom>
          <a:noFill/>
        </p:spPr>
        <p:txBody>
          <a:bodyPr wrap="square" lIns="0" tIns="0" rIns="0" bIns="0" anchor="t">
            <a:spAutoFit/>
          </a:bodyPr>
          <a:lstStyle/>
          <a:p>
            <a:pPr algn="l">
              <a:lnSpc>
                <a:spcPct val="115000"/>
              </a:lnSpc>
              <a:spcBef>
                <a:spcPts val="0"/>
              </a:spcBef>
              <a:spcAft>
                <a:spcPts val="200"/>
              </a:spcAft>
            </a:pPr>
            <a:r>
              <a:rPr sz="1500" b="1" i="0">
                <a:solidFill>
                  <a:srgbClr val="DCDFE4"/>
                </a:solidFill>
                <a:latin typeface="Segoe UI"/>
              </a:rPr>
              <a:t>Tabla de símbolos</a:t>
            </a:r>
          </a:p>
          <a:p>
            <a:pPr algn="l">
              <a:lnSpc>
                <a:spcPct val="110000"/>
              </a:lnSpc>
              <a:spcBef>
                <a:spcPts val="0"/>
              </a:spcBef>
              <a:spcAft>
                <a:spcPts val="0"/>
              </a:spcAft>
            </a:pPr>
            <a:r>
              <a:rPr sz="1200" b="0" i="0">
                <a:solidFill>
                  <a:srgbClr val="9AA2B1"/>
                </a:solidFill>
                <a:latin typeface="Segoe UI"/>
              </a:rPr>
              <a:t>Lexema, TokenType, fila y columna. Filtro por categoría y descarga CSV.</a:t>
            </a:r>
          </a:p>
        </p:txBody>
      </p:sp>
      <p:sp>
        <p:nvSpPr>
          <p:cNvPr id="23" name="TextBox 22"/>
          <p:cNvSpPr txBox="1"/>
          <p:nvPr/>
        </p:nvSpPr>
        <p:spPr>
          <a:xfrm>
            <a:off x="7589520" y="3401568"/>
            <a:ext cx="2743200" cy="786384"/>
          </a:xfrm>
          <a:prstGeom prst="rect">
            <a:avLst/>
          </a:prstGeom>
          <a:noFill/>
        </p:spPr>
        <p:txBody>
          <a:bodyPr wrap="square" lIns="0" tIns="0" rIns="0" bIns="0" anchor="ctr">
            <a:spAutoFit/>
          </a:bodyPr>
          <a:lstStyle/>
          <a:p>
            <a:pPr algn="r">
              <a:lnSpc>
                <a:spcPct val="115000"/>
              </a:lnSpc>
              <a:spcBef>
                <a:spcPts val="0"/>
              </a:spcBef>
              <a:spcAft>
                <a:spcPts val="0"/>
              </a:spcAft>
            </a:pPr>
            <a:r>
              <a:rPr sz="1200" b="1" i="0">
                <a:solidFill>
                  <a:srgbClr val="98C379"/>
                </a:solidFill>
                <a:latin typeface="Segoe UI"/>
              </a:rPr>
              <a:t>Requisito 13  ·  10 %</a:t>
            </a:r>
          </a:p>
        </p:txBody>
      </p:sp>
      <p:sp>
        <p:nvSpPr>
          <p:cNvPr id="24" name="TextBox 23"/>
          <p:cNvSpPr txBox="1"/>
          <p:nvPr/>
        </p:nvSpPr>
        <p:spPr>
          <a:xfrm>
            <a:off x="10515600" y="3401568"/>
            <a:ext cx="868680" cy="786384"/>
          </a:xfrm>
          <a:prstGeom prst="rect">
            <a:avLst/>
          </a:prstGeom>
          <a:noFill/>
        </p:spPr>
        <p:txBody>
          <a:bodyPr wrap="square" lIns="0" tIns="0" rIns="0" bIns="0" anchor="ctr">
            <a:spAutoFit/>
          </a:bodyPr>
          <a:lstStyle/>
          <a:p>
            <a:pPr algn="r">
              <a:lnSpc>
                <a:spcPct val="115000"/>
              </a:lnSpc>
              <a:spcBef>
                <a:spcPts val="0"/>
              </a:spcBef>
              <a:spcAft>
                <a:spcPts val="0"/>
              </a:spcAft>
            </a:pPr>
            <a:r>
              <a:rPr sz="1300" b="0" i="0">
                <a:solidFill>
                  <a:srgbClr val="9AA2B1"/>
                </a:solidFill>
                <a:latin typeface="Segoe UI"/>
              </a:rPr>
              <a:t>0:35</a:t>
            </a:r>
          </a:p>
        </p:txBody>
      </p:sp>
      <p:sp>
        <p:nvSpPr>
          <p:cNvPr id="25" name="Rounded Rectangle 24"/>
          <p:cNvSpPr/>
          <p:nvPr/>
        </p:nvSpPr>
        <p:spPr>
          <a:xfrm>
            <a:off x="658368" y="4288536"/>
            <a:ext cx="10881360" cy="786384"/>
          </a:xfrm>
          <a:prstGeom prst="roundRect">
            <a:avLst>
              <a:gd name="adj" fmla="val 14000"/>
            </a:avLst>
          </a:prstGeom>
          <a:solidFill>
            <a:srgbClr val="282C34"/>
          </a:solidFill>
          <a:ln w="12700">
            <a:solidFill>
              <a:srgbClr val="3237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58368" y="4288536"/>
            <a:ext cx="45720" cy="786384"/>
          </a:xfrm>
          <a:prstGeom prst="rect">
            <a:avLst/>
          </a:prstGeom>
          <a:solidFill>
            <a:srgbClr val="E5C0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68680" y="4288536"/>
            <a:ext cx="502920" cy="786384"/>
          </a:xfrm>
          <a:prstGeom prst="rect">
            <a:avLst/>
          </a:prstGeom>
          <a:noFill/>
        </p:spPr>
        <p:txBody>
          <a:bodyPr wrap="square" lIns="0" tIns="0" rIns="0" bIns="0" anchor="ctr">
            <a:spAutoFit/>
          </a:bodyPr>
          <a:lstStyle/>
          <a:p>
            <a:pPr algn="ctr">
              <a:lnSpc>
                <a:spcPct val="115000"/>
              </a:lnSpc>
              <a:spcBef>
                <a:spcPts val="0"/>
              </a:spcBef>
              <a:spcAft>
                <a:spcPts val="0"/>
              </a:spcAft>
            </a:pPr>
            <a:r>
              <a:rPr sz="2500" b="1" i="0">
                <a:solidFill>
                  <a:srgbClr val="E5C07B"/>
                </a:solidFill>
                <a:latin typeface="Segoe UI"/>
              </a:rPr>
              <a:t>4</a:t>
            </a:r>
          </a:p>
        </p:txBody>
      </p:sp>
      <p:sp>
        <p:nvSpPr>
          <p:cNvPr id="28" name="TextBox 27"/>
          <p:cNvSpPr txBox="1"/>
          <p:nvPr/>
        </p:nvSpPr>
        <p:spPr>
          <a:xfrm>
            <a:off x="1463040" y="4416552"/>
            <a:ext cx="5943600" cy="548640"/>
          </a:xfrm>
          <a:prstGeom prst="rect">
            <a:avLst/>
          </a:prstGeom>
          <a:noFill/>
        </p:spPr>
        <p:txBody>
          <a:bodyPr wrap="square" lIns="0" tIns="0" rIns="0" bIns="0" anchor="t">
            <a:spAutoFit/>
          </a:bodyPr>
          <a:lstStyle/>
          <a:p>
            <a:pPr algn="l">
              <a:lnSpc>
                <a:spcPct val="115000"/>
              </a:lnSpc>
              <a:spcBef>
                <a:spcPts val="0"/>
              </a:spcBef>
              <a:spcAft>
                <a:spcPts val="200"/>
              </a:spcAft>
            </a:pPr>
            <a:r>
              <a:rPr sz="1500" b="1" i="0">
                <a:solidFill>
                  <a:srgbClr val="DCDFE4"/>
                </a:solidFill>
                <a:latin typeface="Segoe UI"/>
              </a:rPr>
              <a:t>Errores léxicos</a:t>
            </a:r>
          </a:p>
          <a:p>
            <a:pPr algn="l">
              <a:lnSpc>
                <a:spcPct val="110000"/>
              </a:lnSpc>
              <a:spcBef>
                <a:spcPts val="0"/>
              </a:spcBef>
              <a:spcAft>
                <a:spcPts val="0"/>
              </a:spcAft>
            </a:pPr>
            <a:r>
              <a:rPr sz="1200" b="0" i="0">
                <a:solidFill>
                  <a:srgbClr val="9AA2B1"/>
                </a:solidFill>
                <a:latin typeface="Segoe UI"/>
              </a:rPr>
              <a:t>Cadena «ERRORES LÉXICOS deliberados»: 5 errores y el análisis no se detiene.</a:t>
            </a:r>
          </a:p>
        </p:txBody>
      </p:sp>
      <p:sp>
        <p:nvSpPr>
          <p:cNvPr id="29" name="TextBox 28"/>
          <p:cNvSpPr txBox="1"/>
          <p:nvPr/>
        </p:nvSpPr>
        <p:spPr>
          <a:xfrm>
            <a:off x="7589520" y="4288536"/>
            <a:ext cx="2743200" cy="786384"/>
          </a:xfrm>
          <a:prstGeom prst="rect">
            <a:avLst/>
          </a:prstGeom>
          <a:noFill/>
        </p:spPr>
        <p:txBody>
          <a:bodyPr wrap="square" lIns="0" tIns="0" rIns="0" bIns="0" anchor="ctr">
            <a:spAutoFit/>
          </a:bodyPr>
          <a:lstStyle/>
          <a:p>
            <a:pPr algn="r">
              <a:lnSpc>
                <a:spcPct val="115000"/>
              </a:lnSpc>
              <a:spcBef>
                <a:spcPts val="0"/>
              </a:spcBef>
              <a:spcAft>
                <a:spcPts val="0"/>
              </a:spcAft>
            </a:pPr>
            <a:r>
              <a:rPr sz="1200" b="1" i="0">
                <a:solidFill>
                  <a:srgbClr val="E5C07B"/>
                </a:solidFill>
                <a:latin typeface="Segoe UI"/>
              </a:rPr>
              <a:t>Requisito 14  ·  10 %</a:t>
            </a:r>
          </a:p>
        </p:txBody>
      </p:sp>
      <p:sp>
        <p:nvSpPr>
          <p:cNvPr id="30" name="TextBox 29"/>
          <p:cNvSpPr txBox="1"/>
          <p:nvPr/>
        </p:nvSpPr>
        <p:spPr>
          <a:xfrm>
            <a:off x="10515600" y="4288536"/>
            <a:ext cx="868680" cy="786384"/>
          </a:xfrm>
          <a:prstGeom prst="rect">
            <a:avLst/>
          </a:prstGeom>
          <a:noFill/>
        </p:spPr>
        <p:txBody>
          <a:bodyPr wrap="square" lIns="0" tIns="0" rIns="0" bIns="0" anchor="ctr">
            <a:spAutoFit/>
          </a:bodyPr>
          <a:lstStyle/>
          <a:p>
            <a:pPr algn="r">
              <a:lnSpc>
                <a:spcPct val="115000"/>
              </a:lnSpc>
              <a:spcBef>
                <a:spcPts val="0"/>
              </a:spcBef>
              <a:spcAft>
                <a:spcPts val="0"/>
              </a:spcAft>
            </a:pPr>
            <a:r>
              <a:rPr sz="1300" b="0" i="0">
                <a:solidFill>
                  <a:srgbClr val="9AA2B1"/>
                </a:solidFill>
                <a:latin typeface="Segoe UI"/>
              </a:rPr>
              <a:t>0:45</a:t>
            </a:r>
          </a:p>
        </p:txBody>
      </p:sp>
      <p:sp>
        <p:nvSpPr>
          <p:cNvPr id="31" name="Rounded Rectangle 30"/>
          <p:cNvSpPr/>
          <p:nvPr/>
        </p:nvSpPr>
        <p:spPr>
          <a:xfrm>
            <a:off x="658368" y="5175504"/>
            <a:ext cx="10881360" cy="786384"/>
          </a:xfrm>
          <a:prstGeom prst="roundRect">
            <a:avLst>
              <a:gd name="adj" fmla="val 14000"/>
            </a:avLst>
          </a:prstGeom>
          <a:solidFill>
            <a:srgbClr val="282C34"/>
          </a:solidFill>
          <a:ln w="12700">
            <a:solidFill>
              <a:srgbClr val="3237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58368" y="5175504"/>
            <a:ext cx="45720" cy="786384"/>
          </a:xfrm>
          <a:prstGeom prst="rect">
            <a:avLst/>
          </a:prstGeom>
          <a:solidFill>
            <a:srgbClr val="C678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68680" y="5175504"/>
            <a:ext cx="502920" cy="786384"/>
          </a:xfrm>
          <a:prstGeom prst="rect">
            <a:avLst/>
          </a:prstGeom>
          <a:noFill/>
        </p:spPr>
        <p:txBody>
          <a:bodyPr wrap="square" lIns="0" tIns="0" rIns="0" bIns="0" anchor="ctr">
            <a:spAutoFit/>
          </a:bodyPr>
          <a:lstStyle/>
          <a:p>
            <a:pPr algn="ctr">
              <a:lnSpc>
                <a:spcPct val="115000"/>
              </a:lnSpc>
              <a:spcBef>
                <a:spcPts val="0"/>
              </a:spcBef>
              <a:spcAft>
                <a:spcPts val="0"/>
              </a:spcAft>
            </a:pPr>
            <a:r>
              <a:rPr sz="2500" b="1" i="0">
                <a:solidFill>
                  <a:srgbClr val="C678DD"/>
                </a:solidFill>
                <a:latin typeface="Segoe UI"/>
              </a:rPr>
              <a:t>5</a:t>
            </a:r>
          </a:p>
        </p:txBody>
      </p:sp>
      <p:sp>
        <p:nvSpPr>
          <p:cNvPr id="34" name="TextBox 33"/>
          <p:cNvSpPr txBox="1"/>
          <p:nvPr/>
        </p:nvSpPr>
        <p:spPr>
          <a:xfrm>
            <a:off x="1463040" y="5303520"/>
            <a:ext cx="5943600" cy="548640"/>
          </a:xfrm>
          <a:prstGeom prst="rect">
            <a:avLst/>
          </a:prstGeom>
          <a:noFill/>
        </p:spPr>
        <p:txBody>
          <a:bodyPr wrap="square" lIns="0" tIns="0" rIns="0" bIns="0" anchor="t">
            <a:spAutoFit/>
          </a:bodyPr>
          <a:lstStyle/>
          <a:p>
            <a:pPr algn="l">
              <a:lnSpc>
                <a:spcPct val="115000"/>
              </a:lnSpc>
              <a:spcBef>
                <a:spcPts val="0"/>
              </a:spcBef>
              <a:spcAft>
                <a:spcPts val="200"/>
              </a:spcAft>
            </a:pPr>
            <a:r>
              <a:rPr sz="1500" b="1" i="0">
                <a:solidFill>
                  <a:srgbClr val="DCDFE4"/>
                </a:solidFill>
                <a:latin typeface="Segoe UI"/>
              </a:rPr>
              <a:t>Traducción a Gleam</a:t>
            </a:r>
          </a:p>
          <a:p>
            <a:pPr algn="l">
              <a:lnSpc>
                <a:spcPct val="110000"/>
              </a:lnSpc>
              <a:spcBef>
                <a:spcPts val="0"/>
              </a:spcBef>
              <a:spcAft>
                <a:spcPts val="0"/>
              </a:spcAft>
            </a:pPr>
            <a:r>
              <a:rPr sz="1200" b="0" i="0">
                <a:solidFill>
                  <a:srgbClr val="9AA2B1"/>
                </a:solidFill>
                <a:latin typeface="Segoe UI"/>
              </a:rPr>
              <a:t>En qué se convierte cada token y cuáles exigen reestructurar el árbol.</a:t>
            </a:r>
          </a:p>
        </p:txBody>
      </p:sp>
      <p:sp>
        <p:nvSpPr>
          <p:cNvPr id="35" name="TextBox 34"/>
          <p:cNvSpPr txBox="1"/>
          <p:nvPr/>
        </p:nvSpPr>
        <p:spPr>
          <a:xfrm>
            <a:off x="7589520" y="5175504"/>
            <a:ext cx="2743200" cy="786384"/>
          </a:xfrm>
          <a:prstGeom prst="rect">
            <a:avLst/>
          </a:prstGeom>
          <a:noFill/>
        </p:spPr>
        <p:txBody>
          <a:bodyPr wrap="square" lIns="0" tIns="0" rIns="0" bIns="0" anchor="ctr">
            <a:spAutoFit/>
          </a:bodyPr>
          <a:lstStyle/>
          <a:p>
            <a:pPr algn="r">
              <a:lnSpc>
                <a:spcPct val="115000"/>
              </a:lnSpc>
              <a:spcBef>
                <a:spcPts val="0"/>
              </a:spcBef>
              <a:spcAft>
                <a:spcPts val="0"/>
              </a:spcAft>
            </a:pPr>
            <a:r>
              <a:rPr sz="1200" b="1" i="0">
                <a:solidFill>
                  <a:srgbClr val="C678DD"/>
                </a:solidFill>
                <a:latin typeface="Segoe UI"/>
              </a:rPr>
              <a:t>Valor agregado</a:t>
            </a:r>
          </a:p>
        </p:txBody>
      </p:sp>
      <p:sp>
        <p:nvSpPr>
          <p:cNvPr id="36" name="TextBox 35"/>
          <p:cNvSpPr txBox="1"/>
          <p:nvPr/>
        </p:nvSpPr>
        <p:spPr>
          <a:xfrm>
            <a:off x="10515600" y="5175504"/>
            <a:ext cx="868680" cy="786384"/>
          </a:xfrm>
          <a:prstGeom prst="rect">
            <a:avLst/>
          </a:prstGeom>
          <a:noFill/>
        </p:spPr>
        <p:txBody>
          <a:bodyPr wrap="square" lIns="0" tIns="0" rIns="0" bIns="0" anchor="ctr">
            <a:spAutoFit/>
          </a:bodyPr>
          <a:lstStyle/>
          <a:p>
            <a:pPr algn="r">
              <a:lnSpc>
                <a:spcPct val="115000"/>
              </a:lnSpc>
              <a:spcBef>
                <a:spcPts val="0"/>
              </a:spcBef>
              <a:spcAft>
                <a:spcPts val="0"/>
              </a:spcAft>
            </a:pPr>
            <a:r>
              <a:rPr sz="1300" b="0" i="0">
                <a:solidFill>
                  <a:srgbClr val="9AA2B1"/>
                </a:solidFill>
                <a:latin typeface="Segoe UI"/>
              </a:rPr>
              <a:t>0:25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21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475488"/>
            <a:ext cx="50292" cy="841248"/>
          </a:xfrm>
          <a:prstGeom prst="rect">
            <a:avLst/>
          </a:prstGeom>
          <a:solidFill>
            <a:srgbClr val="98C3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438912"/>
            <a:ext cx="7863840" cy="960120"/>
          </a:xfrm>
          <a:prstGeom prst="rect">
            <a:avLst/>
          </a:prstGeom>
          <a:noFill/>
        </p:spPr>
        <p:txBody>
          <a:bodyPr wrap="square" lIns="0" tIns="0" rIns="0" bIns="0" anchor="t">
            <a:spAutoFit/>
          </a:bodyPr>
          <a:lstStyle/>
          <a:p>
            <a:pPr algn="l">
              <a:lnSpc>
                <a:spcPct val="115000"/>
              </a:lnSpc>
              <a:spcBef>
                <a:spcPts val="0"/>
              </a:spcBef>
              <a:spcAft>
                <a:spcPts val="300"/>
              </a:spcAft>
            </a:pPr>
            <a:r>
              <a:rPr sz="1150" b="1" i="0">
                <a:solidFill>
                  <a:srgbClr val="98C379"/>
                </a:solidFill>
                <a:latin typeface="Segoe UI"/>
              </a:rPr>
              <a:t>3.1  ALCANCE DE ESTA ENTREGA</a:t>
            </a:r>
          </a:p>
          <a:p>
            <a:pPr algn="l">
              <a:lnSpc>
                <a:spcPct val="100000"/>
              </a:lnSpc>
              <a:spcBef>
                <a:spcPts val="0"/>
              </a:spcBef>
              <a:spcAft>
                <a:spcPts val="0"/>
              </a:spcAft>
            </a:pPr>
            <a:r>
              <a:rPr sz="2900" b="1" i="0">
                <a:solidFill>
                  <a:srgbClr val="DCDFE4"/>
                </a:solidFill>
                <a:latin typeface="Segoe UI"/>
              </a:rPr>
              <a:t>Error léxico ≠ sintáctico ≠ semántico</a:t>
            </a:r>
          </a:p>
        </p:txBody>
      </p:sp>
      <p:sp>
        <p:nvSpPr>
          <p:cNvPr id="7" name="TextBox 6"/>
          <p:cNvSpPr txBox="1"/>
          <p:nvPr/>
        </p:nvSpPr>
        <p:spPr>
          <a:xfrm>
            <a:off x="658368" y="1627632"/>
            <a:ext cx="10881360" cy="457200"/>
          </a:xfrm>
          <a:prstGeom prst="rect">
            <a:avLst/>
          </a:prstGeom>
          <a:noFill/>
        </p:spPr>
        <p:txBody>
          <a:bodyPr wrap="square" lIns="0" tIns="0" rIns="0" bIns="0" anchor="t">
            <a:spAutoFit/>
          </a:bodyPr>
          <a:lstStyle/>
          <a:p>
            <a:pPr algn="l">
              <a:lnSpc>
                <a:spcPct val="120000"/>
              </a:lnSpc>
              <a:spcBef>
                <a:spcPts val="0"/>
              </a:spcBef>
              <a:spcAft>
                <a:spcPts val="0"/>
              </a:spcAft>
            </a:pPr>
            <a:r>
              <a:rPr sz="1600" b="0" i="0">
                <a:solidFill>
                  <a:srgbClr val="DCDFE4"/>
                </a:solidFill>
                <a:latin typeface="Segoe UI"/>
              </a:rPr>
              <a:t>Que el lexer reporte cero errores en un archivo defectuoso no es una falla: es el comportamiento correcto.</a:t>
            </a:r>
          </a:p>
        </p:txBody>
      </p:sp>
      <p:sp>
        <p:nvSpPr>
          <p:cNvPr id="8" name="Rounded Rectangle 7"/>
          <p:cNvSpPr/>
          <p:nvPr/>
        </p:nvSpPr>
        <p:spPr>
          <a:xfrm>
            <a:off x="658368" y="2331720"/>
            <a:ext cx="10881360" cy="402336"/>
          </a:xfrm>
          <a:prstGeom prst="roundRect">
            <a:avLst>
              <a:gd name="adj" fmla="val 10000"/>
            </a:avLst>
          </a:prstGeom>
          <a:solidFill>
            <a:srgbClr val="3237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4672" y="2331720"/>
            <a:ext cx="2651760" cy="402336"/>
          </a:xfrm>
          <a:prstGeom prst="rect">
            <a:avLst/>
          </a:prstGeom>
          <a:noFill/>
        </p:spPr>
        <p:txBody>
          <a:bodyPr wrap="square" lIns="0" tIns="0" rIns="0" bIns="0" anchor="ctr">
            <a:spAutoFit/>
          </a:bodyPr>
          <a:lstStyle/>
          <a:p>
            <a:pPr algn="l">
              <a:lnSpc>
                <a:spcPct val="115000"/>
              </a:lnSpc>
              <a:spcBef>
                <a:spcPts val="0"/>
              </a:spcBef>
              <a:spcAft>
                <a:spcPts val="0"/>
              </a:spcAft>
            </a:pPr>
            <a:r>
              <a:rPr sz="1250" b="1" i="0">
                <a:solidFill>
                  <a:srgbClr val="C678DD"/>
                </a:solidFill>
                <a:latin typeface="Segoe UI"/>
              </a:rPr>
              <a:t>Tipo de error</a:t>
            </a:r>
          </a:p>
        </p:txBody>
      </p:sp>
      <p:sp>
        <p:nvSpPr>
          <p:cNvPr id="10" name="TextBox 9"/>
          <p:cNvSpPr txBox="1"/>
          <p:nvPr/>
        </p:nvSpPr>
        <p:spPr>
          <a:xfrm>
            <a:off x="3456432" y="2331720"/>
            <a:ext cx="3657600" cy="402336"/>
          </a:xfrm>
          <a:prstGeom prst="rect">
            <a:avLst/>
          </a:prstGeom>
          <a:noFill/>
        </p:spPr>
        <p:txBody>
          <a:bodyPr wrap="square" lIns="0" tIns="0" rIns="0" bIns="0" anchor="ctr">
            <a:spAutoFit/>
          </a:bodyPr>
          <a:lstStyle/>
          <a:p>
            <a:pPr algn="l">
              <a:lnSpc>
                <a:spcPct val="115000"/>
              </a:lnSpc>
              <a:spcBef>
                <a:spcPts val="0"/>
              </a:spcBef>
              <a:spcAft>
                <a:spcPts val="0"/>
              </a:spcAft>
            </a:pPr>
            <a:r>
              <a:rPr sz="1250" b="1" i="0">
                <a:solidFill>
                  <a:srgbClr val="C678DD"/>
                </a:solidFill>
                <a:latin typeface="Segoe UI"/>
              </a:rPr>
              <a:t>Ejemplo</a:t>
            </a:r>
          </a:p>
        </p:txBody>
      </p:sp>
      <p:sp>
        <p:nvSpPr>
          <p:cNvPr id="11" name="TextBox 10"/>
          <p:cNvSpPr txBox="1"/>
          <p:nvPr/>
        </p:nvSpPr>
        <p:spPr>
          <a:xfrm>
            <a:off x="7114032" y="2331720"/>
            <a:ext cx="4389120" cy="402336"/>
          </a:xfrm>
          <a:prstGeom prst="rect">
            <a:avLst/>
          </a:prstGeom>
          <a:noFill/>
        </p:spPr>
        <p:txBody>
          <a:bodyPr wrap="square" lIns="0" tIns="0" rIns="0" bIns="0" anchor="ctr">
            <a:spAutoFit/>
          </a:bodyPr>
          <a:lstStyle/>
          <a:p>
            <a:pPr algn="l">
              <a:lnSpc>
                <a:spcPct val="115000"/>
              </a:lnSpc>
              <a:spcBef>
                <a:spcPts val="0"/>
              </a:spcBef>
              <a:spcAft>
                <a:spcPts val="0"/>
              </a:spcAft>
            </a:pPr>
            <a:r>
              <a:rPr sz="1250" b="1" i="0">
                <a:solidFill>
                  <a:srgbClr val="C678DD"/>
                </a:solidFill>
                <a:latin typeface="Segoe UI"/>
              </a:rPr>
              <a:t>¿Lo detecta esta entrega?</a:t>
            </a:r>
          </a:p>
        </p:txBody>
      </p:sp>
      <p:sp>
        <p:nvSpPr>
          <p:cNvPr id="12" name="Rounded Rectangle 11"/>
          <p:cNvSpPr/>
          <p:nvPr/>
        </p:nvSpPr>
        <p:spPr>
          <a:xfrm>
            <a:off x="658368" y="2734056"/>
            <a:ext cx="10881360" cy="402336"/>
          </a:xfrm>
          <a:prstGeom prst="roundRect">
            <a:avLst>
              <a:gd name="adj" fmla="val 10000"/>
            </a:avLst>
          </a:prstGeom>
          <a:solidFill>
            <a:srgbClr val="282C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4672" y="2734056"/>
            <a:ext cx="2651760" cy="402336"/>
          </a:xfrm>
          <a:prstGeom prst="rect">
            <a:avLst/>
          </a:prstGeom>
          <a:noFill/>
        </p:spPr>
        <p:txBody>
          <a:bodyPr wrap="square" lIns="0" tIns="0" rIns="0" bIns="0" anchor="ctr">
            <a:spAutoFit/>
          </a:bodyPr>
          <a:lstStyle/>
          <a:p>
            <a:pPr algn="l">
              <a:lnSpc>
                <a:spcPct val="115000"/>
              </a:lnSpc>
              <a:spcBef>
                <a:spcPts val="0"/>
              </a:spcBef>
              <a:spcAft>
                <a:spcPts val="0"/>
              </a:spcAft>
            </a:pPr>
            <a:r>
              <a:rPr sz="1400" b="0" i="0">
                <a:solidFill>
                  <a:srgbClr val="98C379"/>
                </a:solidFill>
                <a:latin typeface="Consolas"/>
              </a:rPr>
              <a:t>Léxico</a:t>
            </a:r>
          </a:p>
        </p:txBody>
      </p:sp>
      <p:sp>
        <p:nvSpPr>
          <p:cNvPr id="14" name="TextBox 13"/>
          <p:cNvSpPr txBox="1"/>
          <p:nvPr/>
        </p:nvSpPr>
        <p:spPr>
          <a:xfrm>
            <a:off x="3456432" y="2734056"/>
            <a:ext cx="3657600" cy="402336"/>
          </a:xfrm>
          <a:prstGeom prst="rect">
            <a:avLst/>
          </a:prstGeom>
          <a:noFill/>
        </p:spPr>
        <p:txBody>
          <a:bodyPr wrap="square" lIns="0" tIns="0" rIns="0" bIns="0" anchor="ctr">
            <a:spAutoFit/>
          </a:bodyPr>
          <a:lstStyle/>
          <a:p>
            <a:pPr algn="l">
              <a:lnSpc>
                <a:spcPct val="115000"/>
              </a:lnSpc>
              <a:spcBef>
                <a:spcPts val="0"/>
              </a:spcBef>
              <a:spcAft>
                <a:spcPts val="0"/>
              </a:spcAft>
            </a:pPr>
            <a:r>
              <a:rPr sz="1400" b="0" i="0">
                <a:solidFill>
                  <a:srgbClr val="DCDFE4"/>
                </a:solidFill>
                <a:latin typeface="Segoe UI"/>
              </a:rPr>
              <a:t>un carácter @ suelto</a:t>
            </a:r>
          </a:p>
        </p:txBody>
      </p:sp>
      <p:sp>
        <p:nvSpPr>
          <p:cNvPr id="15" name="TextBox 14"/>
          <p:cNvSpPr txBox="1"/>
          <p:nvPr/>
        </p:nvSpPr>
        <p:spPr>
          <a:xfrm>
            <a:off x="7114032" y="2734056"/>
            <a:ext cx="4389120" cy="402336"/>
          </a:xfrm>
          <a:prstGeom prst="rect">
            <a:avLst/>
          </a:prstGeom>
          <a:noFill/>
        </p:spPr>
        <p:txBody>
          <a:bodyPr wrap="square" lIns="0" tIns="0" rIns="0" bIns="0" anchor="ctr">
            <a:spAutoFit/>
          </a:bodyPr>
          <a:lstStyle/>
          <a:p>
            <a:pPr algn="l">
              <a:lnSpc>
                <a:spcPct val="115000"/>
              </a:lnSpc>
              <a:spcBef>
                <a:spcPts val="0"/>
              </a:spcBef>
              <a:spcAft>
                <a:spcPts val="0"/>
              </a:spcAft>
            </a:pPr>
            <a:r>
              <a:rPr sz="1400" b="0" i="0">
                <a:solidFill>
                  <a:srgbClr val="9AA2B1"/>
                </a:solidFill>
                <a:latin typeface="Segoe UI"/>
              </a:rPr>
              <a:t>Sí — es justo lo que hace el lexer</a:t>
            </a:r>
          </a:p>
        </p:txBody>
      </p:sp>
      <p:sp>
        <p:nvSpPr>
          <p:cNvPr id="16" name="TextBox 15"/>
          <p:cNvSpPr txBox="1"/>
          <p:nvPr/>
        </p:nvSpPr>
        <p:spPr>
          <a:xfrm>
            <a:off x="804672" y="3136392"/>
            <a:ext cx="2651760" cy="402336"/>
          </a:xfrm>
          <a:prstGeom prst="rect">
            <a:avLst/>
          </a:prstGeom>
          <a:noFill/>
        </p:spPr>
        <p:txBody>
          <a:bodyPr wrap="square" lIns="0" tIns="0" rIns="0" bIns="0" anchor="ctr">
            <a:spAutoFit/>
          </a:bodyPr>
          <a:lstStyle/>
          <a:p>
            <a:pPr algn="l">
              <a:lnSpc>
                <a:spcPct val="115000"/>
              </a:lnSpc>
              <a:spcBef>
                <a:spcPts val="0"/>
              </a:spcBef>
              <a:spcAft>
                <a:spcPts val="0"/>
              </a:spcAft>
            </a:pPr>
            <a:r>
              <a:rPr sz="1400" b="0" i="0">
                <a:solidFill>
                  <a:srgbClr val="98C379"/>
                </a:solidFill>
                <a:latin typeface="Consolas"/>
              </a:rPr>
              <a:t>Estructural</a:t>
            </a:r>
          </a:p>
        </p:txBody>
      </p:sp>
      <p:sp>
        <p:nvSpPr>
          <p:cNvPr id="17" name="TextBox 16"/>
          <p:cNvSpPr txBox="1"/>
          <p:nvPr/>
        </p:nvSpPr>
        <p:spPr>
          <a:xfrm>
            <a:off x="3456432" y="3136392"/>
            <a:ext cx="3657600" cy="402336"/>
          </a:xfrm>
          <a:prstGeom prst="rect">
            <a:avLst/>
          </a:prstGeom>
          <a:noFill/>
        </p:spPr>
        <p:txBody>
          <a:bodyPr wrap="square" lIns="0" tIns="0" rIns="0" bIns="0" anchor="ctr">
            <a:spAutoFit/>
          </a:bodyPr>
          <a:lstStyle/>
          <a:p>
            <a:pPr algn="l">
              <a:lnSpc>
                <a:spcPct val="115000"/>
              </a:lnSpc>
              <a:spcBef>
                <a:spcPts val="0"/>
              </a:spcBef>
              <a:spcAft>
                <a:spcPts val="0"/>
              </a:spcAft>
            </a:pPr>
            <a:r>
              <a:rPr sz="1400" b="0" i="0">
                <a:solidFill>
                  <a:srgbClr val="DCDFE4"/>
                </a:solidFill>
                <a:latin typeface="Segoe UI"/>
              </a:rPr>
              <a:t>falta un asi_quedo</a:t>
            </a:r>
          </a:p>
        </p:txBody>
      </p:sp>
      <p:sp>
        <p:nvSpPr>
          <p:cNvPr id="18" name="TextBox 17"/>
          <p:cNvSpPr txBox="1"/>
          <p:nvPr/>
        </p:nvSpPr>
        <p:spPr>
          <a:xfrm>
            <a:off x="7114032" y="3136392"/>
            <a:ext cx="4389120" cy="402336"/>
          </a:xfrm>
          <a:prstGeom prst="rect">
            <a:avLst/>
          </a:prstGeom>
          <a:noFill/>
        </p:spPr>
        <p:txBody>
          <a:bodyPr wrap="square" lIns="0" tIns="0" rIns="0" bIns="0" anchor="ctr">
            <a:spAutoFit/>
          </a:bodyPr>
          <a:lstStyle/>
          <a:p>
            <a:pPr algn="l">
              <a:lnSpc>
                <a:spcPct val="115000"/>
              </a:lnSpc>
              <a:spcBef>
                <a:spcPts val="0"/>
              </a:spcBef>
              <a:spcAft>
                <a:spcPts val="0"/>
              </a:spcAft>
            </a:pPr>
            <a:r>
              <a:rPr sz="1400" b="0" i="0">
                <a:solidFill>
                  <a:srgbClr val="9AA2B1"/>
                </a:solidFill>
                <a:latin typeface="Segoe UI"/>
              </a:rPr>
              <a:t>Sí — con una verificación extra de balanceo</a:t>
            </a:r>
          </a:p>
        </p:txBody>
      </p:sp>
      <p:sp>
        <p:nvSpPr>
          <p:cNvPr id="19" name="Rounded Rectangle 18"/>
          <p:cNvSpPr/>
          <p:nvPr/>
        </p:nvSpPr>
        <p:spPr>
          <a:xfrm>
            <a:off x="658368" y="3538728"/>
            <a:ext cx="10881360" cy="402336"/>
          </a:xfrm>
          <a:prstGeom prst="roundRect">
            <a:avLst>
              <a:gd name="adj" fmla="val 10000"/>
            </a:avLst>
          </a:prstGeom>
          <a:solidFill>
            <a:srgbClr val="282C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04672" y="3538728"/>
            <a:ext cx="2651760" cy="402336"/>
          </a:xfrm>
          <a:prstGeom prst="rect">
            <a:avLst/>
          </a:prstGeom>
          <a:noFill/>
        </p:spPr>
        <p:txBody>
          <a:bodyPr wrap="square" lIns="0" tIns="0" rIns="0" bIns="0" anchor="ctr">
            <a:spAutoFit/>
          </a:bodyPr>
          <a:lstStyle/>
          <a:p>
            <a:pPr algn="l">
              <a:lnSpc>
                <a:spcPct val="115000"/>
              </a:lnSpc>
              <a:spcBef>
                <a:spcPts val="0"/>
              </a:spcBef>
              <a:spcAft>
                <a:spcPts val="0"/>
              </a:spcAft>
            </a:pPr>
            <a:r>
              <a:rPr sz="1400" b="0" i="0">
                <a:solidFill>
                  <a:srgbClr val="98C379"/>
                </a:solidFill>
                <a:latin typeface="Consolas"/>
              </a:rPr>
              <a:t>Sintáctico fino</a:t>
            </a:r>
          </a:p>
        </p:txBody>
      </p:sp>
      <p:sp>
        <p:nvSpPr>
          <p:cNvPr id="21" name="TextBox 20"/>
          <p:cNvSpPr txBox="1"/>
          <p:nvPr/>
        </p:nvSpPr>
        <p:spPr>
          <a:xfrm>
            <a:off x="3456432" y="3538728"/>
            <a:ext cx="3657600" cy="402336"/>
          </a:xfrm>
          <a:prstGeom prst="rect">
            <a:avLst/>
          </a:prstGeom>
          <a:noFill/>
        </p:spPr>
        <p:txBody>
          <a:bodyPr wrap="square" lIns="0" tIns="0" rIns="0" bIns="0" anchor="ctr">
            <a:spAutoFit/>
          </a:bodyPr>
          <a:lstStyle/>
          <a:p>
            <a:pPr algn="l">
              <a:lnSpc>
                <a:spcPct val="115000"/>
              </a:lnSpc>
              <a:spcBef>
                <a:spcPts val="0"/>
              </a:spcBef>
              <a:spcAft>
                <a:spcPts val="0"/>
              </a:spcAft>
            </a:pPr>
            <a:r>
              <a:rPr sz="1400" b="0" i="0">
                <a:solidFill>
                  <a:srgbClr val="DCDFE4"/>
                </a:solidFill>
                <a:latin typeface="Segoe UI"/>
              </a:rPr>
              <a:t>falta el dele_pues</a:t>
            </a:r>
          </a:p>
        </p:txBody>
      </p:sp>
      <p:sp>
        <p:nvSpPr>
          <p:cNvPr id="22" name="TextBox 21"/>
          <p:cNvSpPr txBox="1"/>
          <p:nvPr/>
        </p:nvSpPr>
        <p:spPr>
          <a:xfrm>
            <a:off x="7114032" y="3538728"/>
            <a:ext cx="4389120" cy="402336"/>
          </a:xfrm>
          <a:prstGeom prst="rect">
            <a:avLst/>
          </a:prstGeom>
          <a:noFill/>
        </p:spPr>
        <p:txBody>
          <a:bodyPr wrap="square" lIns="0" tIns="0" rIns="0" bIns="0" anchor="ctr">
            <a:spAutoFit/>
          </a:bodyPr>
          <a:lstStyle/>
          <a:p>
            <a:pPr algn="l">
              <a:lnSpc>
                <a:spcPct val="115000"/>
              </a:lnSpc>
              <a:spcBef>
                <a:spcPts val="0"/>
              </a:spcBef>
              <a:spcAft>
                <a:spcPts val="0"/>
              </a:spcAft>
            </a:pPr>
            <a:r>
              <a:rPr sz="1400" b="0" i="0">
                <a:solidFill>
                  <a:srgbClr val="9AA2B1"/>
                </a:solidFill>
                <a:latin typeface="Segoe UI"/>
              </a:rPr>
              <a:t>No — requiere el analizador sintáctico</a:t>
            </a:r>
          </a:p>
        </p:txBody>
      </p:sp>
      <p:sp>
        <p:nvSpPr>
          <p:cNvPr id="23" name="TextBox 22"/>
          <p:cNvSpPr txBox="1"/>
          <p:nvPr/>
        </p:nvSpPr>
        <p:spPr>
          <a:xfrm>
            <a:off x="804672" y="3941064"/>
            <a:ext cx="2651760" cy="402336"/>
          </a:xfrm>
          <a:prstGeom prst="rect">
            <a:avLst/>
          </a:prstGeom>
          <a:noFill/>
        </p:spPr>
        <p:txBody>
          <a:bodyPr wrap="square" lIns="0" tIns="0" rIns="0" bIns="0" anchor="ctr">
            <a:spAutoFit/>
          </a:bodyPr>
          <a:lstStyle/>
          <a:p>
            <a:pPr algn="l">
              <a:lnSpc>
                <a:spcPct val="115000"/>
              </a:lnSpc>
              <a:spcBef>
                <a:spcPts val="0"/>
              </a:spcBef>
              <a:spcAft>
                <a:spcPts val="0"/>
              </a:spcAft>
            </a:pPr>
            <a:r>
              <a:rPr sz="1400" b="0" i="0">
                <a:solidFill>
                  <a:srgbClr val="98C379"/>
                </a:solidFill>
                <a:latin typeface="Consolas"/>
              </a:rPr>
              <a:t>Semántico</a:t>
            </a:r>
          </a:p>
        </p:txBody>
      </p:sp>
      <p:sp>
        <p:nvSpPr>
          <p:cNvPr id="24" name="TextBox 23"/>
          <p:cNvSpPr txBox="1"/>
          <p:nvPr/>
        </p:nvSpPr>
        <p:spPr>
          <a:xfrm>
            <a:off x="3456432" y="3941064"/>
            <a:ext cx="3657600" cy="402336"/>
          </a:xfrm>
          <a:prstGeom prst="rect">
            <a:avLst/>
          </a:prstGeom>
          <a:noFill/>
        </p:spPr>
        <p:txBody>
          <a:bodyPr wrap="square" lIns="0" tIns="0" rIns="0" bIns="0" anchor="ctr">
            <a:spAutoFit/>
          </a:bodyPr>
          <a:lstStyle/>
          <a:p>
            <a:pPr algn="l">
              <a:lnSpc>
                <a:spcPct val="115000"/>
              </a:lnSpc>
              <a:spcBef>
                <a:spcPts val="0"/>
              </a:spcBef>
              <a:spcAft>
                <a:spcPts val="0"/>
              </a:spcAft>
            </a:pPr>
            <a:r>
              <a:rPr sz="1400" b="0" i="0">
                <a:solidFill>
                  <a:srgbClr val="DCDFE4"/>
                </a:solidFill>
                <a:latin typeface="Segoe UI"/>
              </a:rPr>
              <a:t>asignar texto a un numerito</a:t>
            </a:r>
          </a:p>
        </p:txBody>
      </p:sp>
      <p:sp>
        <p:nvSpPr>
          <p:cNvPr id="25" name="TextBox 24"/>
          <p:cNvSpPr txBox="1"/>
          <p:nvPr/>
        </p:nvSpPr>
        <p:spPr>
          <a:xfrm>
            <a:off x="7114032" y="3941064"/>
            <a:ext cx="4389120" cy="402336"/>
          </a:xfrm>
          <a:prstGeom prst="rect">
            <a:avLst/>
          </a:prstGeom>
          <a:noFill/>
        </p:spPr>
        <p:txBody>
          <a:bodyPr wrap="square" lIns="0" tIns="0" rIns="0" bIns="0" anchor="ctr">
            <a:spAutoFit/>
          </a:bodyPr>
          <a:lstStyle/>
          <a:p>
            <a:pPr algn="l">
              <a:lnSpc>
                <a:spcPct val="115000"/>
              </a:lnSpc>
              <a:spcBef>
                <a:spcPts val="0"/>
              </a:spcBef>
              <a:spcAft>
                <a:spcPts val="0"/>
              </a:spcAft>
            </a:pPr>
            <a:r>
              <a:rPr sz="1400" b="0" i="0">
                <a:solidFill>
                  <a:srgbClr val="9AA2B1"/>
                </a:solidFill>
                <a:latin typeface="Segoe UI"/>
              </a:rPr>
              <a:t>No — requiere el analizador semántico</a:t>
            </a:r>
          </a:p>
        </p:txBody>
      </p:sp>
      <p:sp>
        <p:nvSpPr>
          <p:cNvPr id="26" name="Rounded Rectangle 25"/>
          <p:cNvSpPr/>
          <p:nvPr/>
        </p:nvSpPr>
        <p:spPr>
          <a:xfrm>
            <a:off x="658368" y="4617720"/>
            <a:ext cx="10881360" cy="1353312"/>
          </a:xfrm>
          <a:prstGeom prst="roundRect">
            <a:avLst>
              <a:gd name="adj" fmla="val 8000"/>
            </a:avLst>
          </a:prstGeom>
          <a:solidFill>
            <a:srgbClr val="282C34"/>
          </a:solidFill>
          <a:ln w="12700">
            <a:solidFill>
              <a:srgbClr val="3237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96112" y="4818888"/>
            <a:ext cx="10405872" cy="987552"/>
          </a:xfrm>
          <a:prstGeom prst="rect">
            <a:avLst/>
          </a:prstGeom>
          <a:noFill/>
        </p:spPr>
        <p:txBody>
          <a:bodyPr wrap="square" lIns="0" tIns="0" rIns="0" bIns="0" anchor="t">
            <a:spAutoFit/>
          </a:bodyPr>
          <a:lstStyle/>
          <a:p>
            <a:pPr algn="l">
              <a:lnSpc>
                <a:spcPct val="115000"/>
              </a:lnSpc>
              <a:spcBef>
                <a:spcPts val="0"/>
              </a:spcBef>
              <a:spcAft>
                <a:spcPts val="800"/>
              </a:spcAft>
            </a:pPr>
            <a:r>
              <a:rPr sz="1450" b="1" i="0">
                <a:solidFill>
                  <a:srgbClr val="98C379"/>
                </a:solidFill>
                <a:latin typeface="Segoe UI"/>
              </a:rPr>
              <a:t>VALOR AGREGADO</a:t>
            </a:r>
          </a:p>
          <a:p>
            <a:pPr algn="l">
              <a:lnSpc>
                <a:spcPct val="120000"/>
              </a:lnSpc>
              <a:spcBef>
                <a:spcPts val="0"/>
              </a:spcBef>
              <a:spcAft>
                <a:spcPts val="500"/>
              </a:spcAft>
            </a:pPr>
            <a:r>
              <a:rPr sz="1400" b="0" i="0">
                <a:solidFill>
                  <a:srgbClr val="DCDFE4"/>
                </a:solidFill>
                <a:latin typeface="Segoe UI"/>
              </a:rPr>
              <a:t>Añadimos un chequeo de balanceo de bloques que sí avisa cuando falta una palabra de cierre.</a:t>
            </a:r>
          </a:p>
          <a:p>
            <a:pPr algn="l">
              <a:lnSpc>
                <a:spcPct val="120000"/>
              </a:lnSpc>
              <a:spcBef>
                <a:spcPts val="0"/>
              </a:spcBef>
              <a:spcAft>
                <a:spcPts val="500"/>
              </a:spcAft>
            </a:pPr>
            <a:r>
              <a:rPr sz="1400" b="0" i="0">
                <a:solidFill>
                  <a:srgbClr val="9AA2B1"/>
                </a:solidFill>
                <a:latin typeface="Segoe UI"/>
              </a:rPr>
              <a:t>No reemplaza al analizador sintáctico: lo anticipa.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21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475488"/>
            <a:ext cx="50292" cy="841248"/>
          </a:xfrm>
          <a:prstGeom prst="rect">
            <a:avLst/>
          </a:prstGeom>
          <a:solidFill>
            <a:srgbClr val="C678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438912"/>
            <a:ext cx="7863840" cy="960120"/>
          </a:xfrm>
          <a:prstGeom prst="rect">
            <a:avLst/>
          </a:prstGeom>
          <a:noFill/>
        </p:spPr>
        <p:txBody>
          <a:bodyPr wrap="square" lIns="0" tIns="0" rIns="0" bIns="0" anchor="t">
            <a:spAutoFit/>
          </a:bodyPr>
          <a:lstStyle/>
          <a:p>
            <a:pPr algn="l">
              <a:lnSpc>
                <a:spcPct val="115000"/>
              </a:lnSpc>
              <a:spcBef>
                <a:spcPts val="0"/>
              </a:spcBef>
              <a:spcAft>
                <a:spcPts val="300"/>
              </a:spcAft>
            </a:pPr>
            <a:r>
              <a:rPr sz="1150" b="1" i="0">
                <a:solidFill>
                  <a:srgbClr val="C678DD"/>
                </a:solidFill>
                <a:latin typeface="Segoe UI"/>
              </a:rPr>
              <a:t>PARTE 4  ·  CIERRE</a:t>
            </a:r>
          </a:p>
          <a:p>
            <a:pPr algn="l">
              <a:lnSpc>
                <a:spcPct val="100000"/>
              </a:lnSpc>
              <a:spcBef>
                <a:spcPts val="0"/>
              </a:spcBef>
              <a:spcAft>
                <a:spcPts val="0"/>
              </a:spcAft>
            </a:pPr>
            <a:r>
              <a:rPr sz="2900" b="1" i="0">
                <a:solidFill>
                  <a:srgbClr val="DCDFE4"/>
                </a:solidFill>
                <a:latin typeface="Segoe UI"/>
              </a:rPr>
              <a:t>Cómo usamos la IA y qué nos llevamos</a:t>
            </a:r>
          </a:p>
        </p:txBody>
      </p:sp>
      <p:sp>
        <p:nvSpPr>
          <p:cNvPr id="7" name="TextBox 6"/>
          <p:cNvSpPr txBox="1"/>
          <p:nvPr/>
        </p:nvSpPr>
        <p:spPr>
          <a:xfrm>
            <a:off x="658368" y="1600200"/>
            <a:ext cx="5669280" cy="365760"/>
          </a:xfrm>
          <a:prstGeom prst="rect">
            <a:avLst/>
          </a:prstGeom>
          <a:noFill/>
        </p:spPr>
        <p:txBody>
          <a:bodyPr wrap="square" lIns="0" tIns="0" rIns="0" bIns="0" anchor="t">
            <a:spAutoFit/>
          </a:bodyPr>
          <a:lstStyle/>
          <a:p>
            <a:pPr algn="l">
              <a:lnSpc>
                <a:spcPct val="115000"/>
              </a:lnSpc>
              <a:spcBef>
                <a:spcPts val="0"/>
              </a:spcBef>
              <a:spcAft>
                <a:spcPts val="1000"/>
              </a:spcAft>
            </a:pPr>
            <a:r>
              <a:rPr sz="1100" b="1" i="0">
                <a:solidFill>
                  <a:srgbClr val="C678DD"/>
                </a:solidFill>
                <a:latin typeface="Segoe UI"/>
              </a:rPr>
              <a:t>CÓMO USAMOS LA INTELIGENCIA ARTIFICIAL</a:t>
            </a:r>
          </a:p>
        </p:txBody>
      </p:sp>
      <p:sp>
        <p:nvSpPr>
          <p:cNvPr id="8" name="TextBox 7"/>
          <p:cNvSpPr txBox="1"/>
          <p:nvPr/>
        </p:nvSpPr>
        <p:spPr>
          <a:xfrm>
            <a:off x="658368" y="1938528"/>
            <a:ext cx="5394960" cy="365760"/>
          </a:xfrm>
          <a:prstGeom prst="rect">
            <a:avLst/>
          </a:prstGeom>
          <a:noFill/>
        </p:spPr>
        <p:txBody>
          <a:bodyPr wrap="square" lIns="0" tIns="0" rIns="0" bIns="0" anchor="t">
            <a:spAutoFit/>
          </a:bodyPr>
          <a:lstStyle/>
          <a:p>
            <a:pPr algn="l">
              <a:lnSpc>
                <a:spcPct val="120000"/>
              </a:lnSpc>
              <a:spcBef>
                <a:spcPts val="0"/>
              </a:spcBef>
              <a:spcAft>
                <a:spcPts val="1300"/>
              </a:spcAft>
            </a:pPr>
            <a:r>
              <a:rPr sz="1350" b="1">
                <a:solidFill>
                  <a:srgbClr val="C678DD"/>
                </a:solidFill>
                <a:latin typeface="Segoe UI"/>
              </a:rPr>
              <a:t>▪  </a:t>
            </a:r>
            <a:r>
              <a:rPr sz="1350" b="1">
                <a:solidFill>
                  <a:srgbClr val="DCDFE4"/>
                </a:solidFill>
                <a:latin typeface="Segoe UI"/>
              </a:rPr>
              <a:t>Apoyo:</a:t>
            </a:r>
            <a:r>
              <a:rPr sz="1350" b="0">
                <a:solidFill>
                  <a:srgbClr val="9AA2B1"/>
                </a:solidFill>
                <a:latin typeface="Segoe UI"/>
              </a:rPr>
              <a:t>  redactar la BNF, proponer el vocabulario paisa y escribir la app.</a:t>
            </a:r>
          </a:p>
          <a:p>
            <a:pPr algn="l">
              <a:lnSpc>
                <a:spcPct val="120000"/>
              </a:lnSpc>
              <a:spcBef>
                <a:spcPts val="0"/>
              </a:spcBef>
              <a:spcAft>
                <a:spcPts val="1300"/>
              </a:spcAft>
            </a:pPr>
            <a:r>
              <a:rPr sz="1350" b="1">
                <a:solidFill>
                  <a:srgbClr val="C678DD"/>
                </a:solidFill>
                <a:latin typeface="Segoe UI"/>
              </a:rPr>
              <a:t>▪  </a:t>
            </a:r>
            <a:r>
              <a:rPr sz="1350" b="1">
                <a:solidFill>
                  <a:srgbClr val="DCDFE4"/>
                </a:solidFill>
                <a:latin typeface="Segoe UI"/>
              </a:rPr>
              <a:t>Revisión:</a:t>
            </a:r>
            <a:r>
              <a:rPr sz="1350" b="0">
                <a:solidFill>
                  <a:srgbClr val="9AA2B1"/>
                </a:solidFill>
                <a:latin typeface="Segoe UI"/>
              </a:rPr>
              <a:t>  detectó recursividad izquierda en cinco reglas; las reescribimos con A ::= B A′.</a:t>
            </a:r>
          </a:p>
          <a:p>
            <a:pPr algn="l">
              <a:lnSpc>
                <a:spcPct val="120000"/>
              </a:lnSpc>
              <a:spcBef>
                <a:spcPts val="0"/>
              </a:spcBef>
              <a:spcAft>
                <a:spcPts val="1300"/>
              </a:spcAft>
            </a:pPr>
            <a:r>
              <a:rPr sz="1350" b="1">
                <a:solidFill>
                  <a:srgbClr val="C678DD"/>
                </a:solidFill>
                <a:latin typeface="Segoe UI"/>
              </a:rPr>
              <a:t>▪  </a:t>
            </a:r>
            <a:r>
              <a:rPr sz="1350" b="1">
                <a:solidFill>
                  <a:srgbClr val="DCDFE4"/>
                </a:solidFill>
                <a:latin typeface="Segoe UI"/>
              </a:rPr>
              <a:t>Pruebas:</a:t>
            </a:r>
            <a:r>
              <a:rPr sz="1350" b="0">
                <a:solidFill>
                  <a:srgbClr val="9AA2B1"/>
                </a:solidFill>
                <a:latin typeface="Segoe UI"/>
              </a:rPr>
              <a:t>  el orden de la tabla de tokens estaba mal y &lt;&gt; se partía en dos. Lo hallamos probando.</a:t>
            </a:r>
          </a:p>
          <a:p>
            <a:pPr algn="l">
              <a:lnSpc>
                <a:spcPct val="120000"/>
              </a:lnSpc>
              <a:spcBef>
                <a:spcPts val="0"/>
              </a:spcBef>
              <a:spcAft>
                <a:spcPts val="1300"/>
              </a:spcAft>
            </a:pPr>
            <a:r>
              <a:rPr sz="1350" b="1">
                <a:solidFill>
                  <a:srgbClr val="C678DD"/>
                </a:solidFill>
                <a:latin typeface="Segoe UI"/>
              </a:rPr>
              <a:t>▪  </a:t>
            </a:r>
            <a:r>
              <a:rPr sz="1350" b="1">
                <a:solidFill>
                  <a:srgbClr val="DCDFE4"/>
                </a:solidFill>
                <a:latin typeface="Segoe UI"/>
              </a:rPr>
              <a:t>No delegamos:</a:t>
            </a:r>
            <a:r>
              <a:rPr sz="1350" b="0">
                <a:solidFill>
                  <a:srgbClr val="9AA2B1"/>
                </a:solidFill>
                <a:latin typeface="Segoe UI"/>
              </a:rPr>
              <a:t>  los cuatro tipos, separar entero de real y cerrar cada bloque para que fuera LL(1).</a:t>
            </a:r>
          </a:p>
        </p:txBody>
      </p:sp>
      <p:sp>
        <p:nvSpPr>
          <p:cNvPr id="9" name="Rounded Rectangle 8"/>
          <p:cNvSpPr/>
          <p:nvPr/>
        </p:nvSpPr>
        <p:spPr>
          <a:xfrm>
            <a:off x="658368" y="5074920"/>
            <a:ext cx="5394960" cy="777240"/>
          </a:xfrm>
          <a:prstGeom prst="roundRect">
            <a:avLst>
              <a:gd name="adj" fmla="val 14000"/>
            </a:avLst>
          </a:prstGeom>
          <a:solidFill>
            <a:srgbClr val="282C34"/>
          </a:solidFill>
          <a:ln w="14604">
            <a:solidFill>
              <a:srgbClr val="E06C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5230368"/>
            <a:ext cx="4937760" cy="548640"/>
          </a:xfrm>
          <a:prstGeom prst="rect">
            <a:avLst/>
          </a:prstGeom>
          <a:noFill/>
        </p:spPr>
        <p:txBody>
          <a:bodyPr wrap="square" lIns="0" tIns="0" rIns="0" bIns="0" anchor="t">
            <a:spAutoFit/>
          </a:bodyPr>
          <a:lstStyle/>
          <a:p>
            <a:pPr algn="l">
              <a:lnSpc>
                <a:spcPct val="115000"/>
              </a:lnSpc>
              <a:spcBef>
                <a:spcPts val="0"/>
              </a:spcBef>
              <a:spcAft>
                <a:spcPts val="0"/>
              </a:spcAft>
            </a:pPr>
            <a:r>
              <a:rPr sz="1250" b="1">
                <a:solidFill>
                  <a:srgbClr val="E06C75"/>
                </a:solidFill>
                <a:latin typeface="Segoe UI"/>
              </a:rPr>
              <a:t>Qué NO decir:  </a:t>
            </a:r>
            <a:r>
              <a:rPr sz="1250" b="0">
                <a:solidFill>
                  <a:srgbClr val="DCDFE4"/>
                </a:solidFill>
                <a:latin typeface="Segoe UI"/>
              </a:rPr>
              <a:t>«lo hizo la IA» sin más — ni negar que se usó. Las dos cosas restan.</a:t>
            </a:r>
          </a:p>
        </p:txBody>
      </p:sp>
      <p:sp>
        <p:nvSpPr>
          <p:cNvPr id="11" name="Rounded Rectangle 10"/>
          <p:cNvSpPr/>
          <p:nvPr/>
        </p:nvSpPr>
        <p:spPr>
          <a:xfrm>
            <a:off x="6400800" y="1600200"/>
            <a:ext cx="5138928" cy="4251960"/>
          </a:xfrm>
          <a:prstGeom prst="roundRect">
            <a:avLst>
              <a:gd name="adj" fmla="val 5000"/>
            </a:avLst>
          </a:prstGeom>
          <a:solidFill>
            <a:srgbClr val="282C34"/>
          </a:solidFill>
          <a:ln w="14604">
            <a:solidFill>
              <a:srgbClr val="C678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93408" y="1828800"/>
            <a:ext cx="4572000" cy="3749039"/>
          </a:xfrm>
          <a:prstGeom prst="rect">
            <a:avLst/>
          </a:prstGeom>
          <a:noFill/>
        </p:spPr>
        <p:txBody>
          <a:bodyPr wrap="square" lIns="0" tIns="0" rIns="0" bIns="0" anchor="t">
            <a:spAutoFit/>
          </a:bodyPr>
          <a:lstStyle/>
          <a:p>
            <a:pPr algn="l">
              <a:lnSpc>
                <a:spcPct val="115000"/>
              </a:lnSpc>
              <a:spcBef>
                <a:spcPts val="0"/>
              </a:spcBef>
              <a:spcAft>
                <a:spcPts val="1300"/>
              </a:spcAft>
            </a:pPr>
            <a:r>
              <a:rPr sz="1100" b="1" i="0">
                <a:solidFill>
                  <a:srgbClr val="C678DD"/>
                </a:solidFill>
                <a:latin typeface="Segoe UI"/>
              </a:rPr>
              <a:t>LAS CINCO FRASES QUE HAY QUE SABER</a:t>
            </a:r>
          </a:p>
          <a:p>
            <a:pPr algn="l">
              <a:lnSpc>
                <a:spcPct val="118000"/>
              </a:lnSpc>
              <a:spcBef>
                <a:spcPts val="0"/>
              </a:spcBef>
              <a:spcAft>
                <a:spcPts val="1300"/>
              </a:spcAft>
            </a:pPr>
            <a:r>
              <a:rPr sz="1300" b="1">
                <a:solidFill>
                  <a:srgbClr val="C678DD"/>
                </a:solidFill>
                <a:latin typeface="Segoe UI"/>
              </a:rPr>
              <a:t>1.  </a:t>
            </a:r>
            <a:r>
              <a:rPr sz="1300" b="0">
                <a:solidFill>
                  <a:srgbClr val="DCDFE4"/>
                </a:solidFill>
                <a:latin typeface="Segoe UI"/>
              </a:rPr>
              <a:t>Paisascript es el lenguaje fuente y Gleam el destino: traducimos a otro lenguaje, no a código de máquina.</a:t>
            </a:r>
          </a:p>
          <a:p>
            <a:pPr algn="l">
              <a:lnSpc>
                <a:spcPct val="118000"/>
              </a:lnSpc>
              <a:spcBef>
                <a:spcPts val="0"/>
              </a:spcBef>
              <a:spcAft>
                <a:spcPts val="1300"/>
              </a:spcAft>
            </a:pPr>
            <a:r>
              <a:rPr sz="1300" b="1">
                <a:solidFill>
                  <a:srgbClr val="C678DD"/>
                </a:solidFill>
                <a:latin typeface="Segoe UI"/>
              </a:rPr>
              <a:t>2.  </a:t>
            </a:r>
            <a:r>
              <a:rPr sz="1300" b="0">
                <a:solidFill>
                  <a:srgbClr val="DCDFE4"/>
                </a:solidFill>
                <a:latin typeface="Segoe UI"/>
              </a:rPr>
              <a:t>El lexer parte el texto en tokens y guarda lexema, categoría, fila y columna.</a:t>
            </a:r>
          </a:p>
          <a:p>
            <a:pPr algn="l">
              <a:lnSpc>
                <a:spcPct val="118000"/>
              </a:lnSpc>
              <a:spcBef>
                <a:spcPts val="0"/>
              </a:spcBef>
              <a:spcAft>
                <a:spcPts val="1300"/>
              </a:spcAft>
            </a:pPr>
            <a:r>
              <a:rPr sz="1300" b="1">
                <a:solidFill>
                  <a:srgbClr val="C678DD"/>
                </a:solidFill>
                <a:latin typeface="Segoe UI"/>
              </a:rPr>
              <a:t>3.  </a:t>
            </a:r>
            <a:r>
              <a:rPr sz="1300" b="0">
                <a:solidFill>
                  <a:srgbClr val="DCDFE4"/>
                </a:solidFill>
                <a:latin typeface="Segoe UI"/>
              </a:rPr>
              <a:t>Quitamos la recursividad izquierda porque un descendente recursivo entraría en ciclo infinito.</a:t>
            </a:r>
          </a:p>
          <a:p>
            <a:pPr algn="l">
              <a:lnSpc>
                <a:spcPct val="118000"/>
              </a:lnSpc>
              <a:spcBef>
                <a:spcPts val="0"/>
              </a:spcBef>
              <a:spcAft>
                <a:spcPts val="1300"/>
              </a:spcAft>
            </a:pPr>
            <a:r>
              <a:rPr sz="1300" b="1">
                <a:solidFill>
                  <a:srgbClr val="C678DD"/>
                </a:solidFill>
                <a:latin typeface="Segoe UI"/>
              </a:rPr>
              <a:t>4.  </a:t>
            </a:r>
            <a:r>
              <a:rPr sz="1300" b="0">
                <a:solidFill>
                  <a:srgbClr val="DCDFE4"/>
                </a:solidFill>
                <a:latin typeface="Segoe UI"/>
              </a:rPr>
              <a:t>Un error léxico no detiene el análisis: se reporta y se sigue.</a:t>
            </a:r>
          </a:p>
          <a:p>
            <a:pPr algn="l">
              <a:lnSpc>
                <a:spcPct val="118000"/>
              </a:lnSpc>
              <a:spcBef>
                <a:spcPts val="0"/>
              </a:spcBef>
              <a:spcAft>
                <a:spcPts val="1300"/>
              </a:spcAft>
            </a:pPr>
            <a:r>
              <a:rPr sz="1300" b="1">
                <a:solidFill>
                  <a:srgbClr val="C678DD"/>
                </a:solidFill>
                <a:latin typeface="Segoe UI"/>
              </a:rPr>
              <a:t>5.  </a:t>
            </a:r>
            <a:r>
              <a:rPr sz="1300" b="0">
                <a:solidFill>
                  <a:srgbClr val="DCDFE4"/>
                </a:solidFill>
                <a:latin typeface="Segoe UI"/>
              </a:rPr>
              <a:t>Diseñamos el lenguaje contra el destino: cuatro tipos que calzan con Gleam.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187</TotalTime>
  <Words>2999</Words>
  <Application>Microsoft Office PowerPoint</Application>
  <PresentationFormat>Panorámica</PresentationFormat>
  <Paragraphs>276</Paragraphs>
  <Slides>9</Slides>
  <Notes>9</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9</vt:i4>
      </vt:variant>
    </vt:vector>
  </HeadingPairs>
  <TitlesOfParts>
    <vt:vector size="14" baseType="lpstr">
      <vt:lpstr>Arial</vt:lpstr>
      <vt:lpstr>Calibri</vt:lpstr>
      <vt:lpstr>Consolas</vt:lpstr>
      <vt:lpstr>Segoe UI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Andres Felipe Velez Alcaraz</cp:lastModifiedBy>
  <cp:revision>4</cp:revision>
  <dcterms:created xsi:type="dcterms:W3CDTF">2013-01-27T09:14:16Z</dcterms:created>
  <dcterms:modified xsi:type="dcterms:W3CDTF">2026-09-04T01:07:01Z</dcterms:modified>
  <cp:category/>
</cp:coreProperties>
</file>